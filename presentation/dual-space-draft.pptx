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5"/>
  </p:notesMasterIdLst>
  <p:sldIdLst>
    <p:sldId id="256" r:id="rId2"/>
    <p:sldId id="258" r:id="rId3"/>
    <p:sldId id="260" r:id="rId4"/>
    <p:sldId id="261" r:id="rId5"/>
    <p:sldId id="257" r:id="rId6"/>
    <p:sldId id="282" r:id="rId7"/>
    <p:sldId id="269" r:id="rId8"/>
    <p:sldId id="283" r:id="rId9"/>
    <p:sldId id="262" r:id="rId10"/>
    <p:sldId id="286" r:id="rId11"/>
    <p:sldId id="287" r:id="rId12"/>
    <p:sldId id="288" r:id="rId13"/>
    <p:sldId id="277" r:id="rId14"/>
  </p:sldIdLst>
  <p:sldSz cx="18288000" cy="10287000"/>
  <p:notesSz cx="6858000" cy="9144000"/>
  <p:embeddedFontLst>
    <p:embeddedFont>
      <p:font typeface="Assistant" pitchFamily="2" charset="-79"/>
      <p:regular r:id="rId16"/>
      <p:bold r:id="rId17"/>
    </p:embeddedFont>
    <p:embeddedFont>
      <p:font typeface="Tenor Sans" panose="02000000000000000000" pitchFamily="2" charset="77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3"/>
  </p:normalViewPr>
  <p:slideViewPr>
    <p:cSldViewPr snapToGrid="0">
      <p:cViewPr>
        <p:scale>
          <a:sx n="84" d="100"/>
          <a:sy n="84" d="100"/>
        </p:scale>
        <p:origin x="144" y="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524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517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5348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84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6248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7316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0" y="8631788"/>
            <a:ext cx="18288118" cy="1655221"/>
          </a:xfrm>
          <a:custGeom>
            <a:avLst/>
            <a:gdLst/>
            <a:ahLst/>
            <a:cxnLst/>
            <a:rect l="l" t="t" r="r" b="b"/>
            <a:pathLst>
              <a:path w="4816592" h="435940" extrusionOk="0">
                <a:moveTo>
                  <a:pt x="0" y="0"/>
                </a:moveTo>
                <a:lnTo>
                  <a:pt x="4816592" y="0"/>
                </a:lnTo>
                <a:lnTo>
                  <a:pt x="4816592" y="435940"/>
                </a:lnTo>
                <a:lnTo>
                  <a:pt x="0" y="435940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1507350" y="47318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152300" y="649600"/>
            <a:ext cx="14335800" cy="3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300"/>
              <a:buFont typeface="Tenor Sans"/>
              <a:buNone/>
              <a:defRPr sz="123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1296800" y="2430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/>
          <p:nvPr/>
        </p:nvSpPr>
        <p:spPr>
          <a:xfrm>
            <a:off x="0" y="9258300"/>
            <a:ext cx="18280075" cy="1028255"/>
          </a:xfrm>
          <a:custGeom>
            <a:avLst/>
            <a:gdLst/>
            <a:ahLst/>
            <a:cxnLst/>
            <a:rect l="l" t="t" r="r" b="b"/>
            <a:pathLst>
              <a:path w="8971816" h="504665" extrusionOk="0">
                <a:moveTo>
                  <a:pt x="0" y="0"/>
                </a:moveTo>
                <a:lnTo>
                  <a:pt x="8971816" y="0"/>
                </a:lnTo>
                <a:lnTo>
                  <a:pt x="8971816" y="504665"/>
                </a:lnTo>
                <a:lnTo>
                  <a:pt x="0" y="504665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1059175" y="757750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Tenor Sans"/>
              <a:buNone/>
              <a:defRPr sz="75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0" y="0"/>
            <a:ext cx="18280075" cy="3126283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1034175" y="724875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enor Sans"/>
              <a:buNone/>
              <a:defRPr sz="7500">
                <a:solidFill>
                  <a:schemeClr val="lt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1716675" y="40986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>
            <a:off x="0" y="0"/>
            <a:ext cx="18280075" cy="10330159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900475" y="4441800"/>
            <a:ext cx="5274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6665375" y="4441800"/>
            <a:ext cx="5274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3"/>
          </p:nvPr>
        </p:nvSpPr>
        <p:spPr>
          <a:xfrm>
            <a:off x="12522450" y="4441800"/>
            <a:ext cx="5274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cxnSp>
        <p:nvCxnSpPr>
          <p:cNvPr id="26" name="Google Shape;26;p6"/>
          <p:cNvCxnSpPr/>
          <p:nvPr/>
        </p:nvCxnSpPr>
        <p:spPr>
          <a:xfrm rot="-5400000">
            <a:off x="3123221" y="6406499"/>
            <a:ext cx="61956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6"/>
          <p:cNvCxnSpPr/>
          <p:nvPr/>
        </p:nvCxnSpPr>
        <p:spPr>
          <a:xfrm rot="-5400000">
            <a:off x="8946460" y="6406499"/>
            <a:ext cx="61956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034175" y="724875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enor Sans"/>
              <a:buNone/>
              <a:defRPr sz="7500">
                <a:solidFill>
                  <a:schemeClr val="lt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-304050" y="5575575"/>
            <a:ext cx="18592045" cy="4711422"/>
          </a:xfrm>
          <a:custGeom>
            <a:avLst/>
            <a:gdLst/>
            <a:ahLst/>
            <a:cxnLst/>
            <a:rect l="l" t="t" r="r" b="b"/>
            <a:pathLst>
              <a:path w="4816592" h="435940" extrusionOk="0">
                <a:moveTo>
                  <a:pt x="0" y="0"/>
                </a:moveTo>
                <a:lnTo>
                  <a:pt x="4816592" y="0"/>
                </a:lnTo>
                <a:lnTo>
                  <a:pt x="4816592" y="435940"/>
                </a:lnTo>
                <a:lnTo>
                  <a:pt x="0" y="435940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7096250" y="2865250"/>
            <a:ext cx="84312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Tenor Sans"/>
              <a:buNone/>
              <a:defRPr sz="75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>
            <a:spLocks noGrp="1"/>
          </p:cNvSpPr>
          <p:nvPr>
            <p:ph type="pic" idx="2"/>
          </p:nvPr>
        </p:nvSpPr>
        <p:spPr>
          <a:xfrm>
            <a:off x="-7249675" y="-36300"/>
            <a:ext cx="13866600" cy="103995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7"/>
          <p:cNvSpPr/>
          <p:nvPr/>
        </p:nvSpPr>
        <p:spPr>
          <a:xfrm>
            <a:off x="6335797" y="5495283"/>
            <a:ext cx="3086608" cy="259388"/>
          </a:xfrm>
          <a:custGeom>
            <a:avLst/>
            <a:gdLst/>
            <a:ahLst/>
            <a:cxnLst/>
            <a:rect l="l" t="t" r="r" b="b"/>
            <a:pathLst>
              <a:path w="812800" h="68305" extrusionOk="0">
                <a:moveTo>
                  <a:pt x="0" y="0"/>
                </a:moveTo>
                <a:lnTo>
                  <a:pt x="812800" y="0"/>
                </a:lnTo>
                <a:lnTo>
                  <a:pt x="812800" y="68305"/>
                </a:lnTo>
                <a:lnTo>
                  <a:pt x="0" y="68305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7471950" y="59532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-34848" y="0"/>
            <a:ext cx="18314908" cy="10282543"/>
          </a:xfrm>
          <a:custGeom>
            <a:avLst/>
            <a:gdLst/>
            <a:ahLst/>
            <a:cxnLst/>
            <a:rect l="l" t="t" r="r" b="b"/>
            <a:pathLst>
              <a:path w="8988912" h="5046647" extrusionOk="0">
                <a:moveTo>
                  <a:pt x="0" y="0"/>
                </a:moveTo>
                <a:lnTo>
                  <a:pt x="8988912" y="0"/>
                </a:lnTo>
                <a:lnTo>
                  <a:pt x="8988912" y="5046647"/>
                </a:lnTo>
                <a:lnTo>
                  <a:pt x="0" y="504664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4463000" y="4304700"/>
            <a:ext cx="94644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●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○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■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●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○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■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●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○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■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377100" y="2752425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enor Sans"/>
              <a:buNone/>
              <a:defRPr sz="7500">
                <a:solidFill>
                  <a:schemeClr val="lt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-9" y="-3610"/>
            <a:ext cx="5782276" cy="10286150"/>
          </a:xfrm>
          <a:custGeom>
            <a:avLst/>
            <a:gdLst/>
            <a:ahLst/>
            <a:cxnLst/>
            <a:rect l="l" t="t" r="r" b="b"/>
            <a:pathLst>
              <a:path w="2837927" h="5048417" extrusionOk="0">
                <a:moveTo>
                  <a:pt x="0" y="0"/>
                </a:moveTo>
                <a:lnTo>
                  <a:pt x="2837927" y="0"/>
                </a:lnTo>
                <a:lnTo>
                  <a:pt x="2837927" y="5048417"/>
                </a:lnTo>
                <a:lnTo>
                  <a:pt x="0" y="504841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41" name="Google Shape;41;p9"/>
          <p:cNvSpPr>
            <a:spLocks noGrp="1"/>
          </p:cNvSpPr>
          <p:nvPr>
            <p:ph type="pic" idx="2"/>
          </p:nvPr>
        </p:nvSpPr>
        <p:spPr>
          <a:xfrm>
            <a:off x="-911324" y="1969975"/>
            <a:ext cx="8172900" cy="61296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7543625" y="33523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7643275" y="1969975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Tenor Sans"/>
              <a:buNone/>
              <a:defRPr sz="75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/>
        </p:nvSpPr>
        <p:spPr>
          <a:xfrm>
            <a:off x="12503216" y="-3610"/>
            <a:ext cx="5782276" cy="10286150"/>
          </a:xfrm>
          <a:custGeom>
            <a:avLst/>
            <a:gdLst/>
            <a:ahLst/>
            <a:cxnLst/>
            <a:rect l="l" t="t" r="r" b="b"/>
            <a:pathLst>
              <a:path w="2837927" h="5048417" extrusionOk="0">
                <a:moveTo>
                  <a:pt x="0" y="0"/>
                </a:moveTo>
                <a:lnTo>
                  <a:pt x="2837927" y="0"/>
                </a:lnTo>
                <a:lnTo>
                  <a:pt x="2837927" y="5048417"/>
                </a:lnTo>
                <a:lnTo>
                  <a:pt x="0" y="504841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46" name="Google Shape;46;p10"/>
          <p:cNvSpPr>
            <a:spLocks noGrp="1"/>
          </p:cNvSpPr>
          <p:nvPr>
            <p:ph type="pic" idx="2"/>
          </p:nvPr>
        </p:nvSpPr>
        <p:spPr>
          <a:xfrm>
            <a:off x="10115051" y="1908550"/>
            <a:ext cx="8172900" cy="61296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0"/>
          <p:cNvSpPr/>
          <p:nvPr/>
        </p:nvSpPr>
        <p:spPr>
          <a:xfrm>
            <a:off x="789072" y="5612758"/>
            <a:ext cx="9974316" cy="106960"/>
          </a:xfrm>
          <a:custGeom>
            <a:avLst/>
            <a:gdLst/>
            <a:ahLst/>
            <a:cxnLst/>
            <a:rect l="l" t="t" r="r" b="b"/>
            <a:pathLst>
              <a:path w="2626548" h="28166" extrusionOk="0">
                <a:moveTo>
                  <a:pt x="0" y="0"/>
                </a:moveTo>
                <a:lnTo>
                  <a:pt x="2626548" y="0"/>
                </a:lnTo>
                <a:lnTo>
                  <a:pt x="2626548" y="28166"/>
                </a:lnTo>
                <a:lnTo>
                  <a:pt x="0" y="28166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1163750" y="6033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682150" y="3078925"/>
            <a:ext cx="89169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Tenor Sans"/>
              <a:buNone/>
              <a:defRPr sz="75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18400" y="4897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○"/>
              <a:defRPr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■"/>
              <a:defRPr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○"/>
              <a:defRPr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■"/>
              <a:defRPr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○"/>
              <a:defRPr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■"/>
              <a:defRPr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152300" y="649600"/>
            <a:ext cx="14335800" cy="3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300"/>
              <a:buFont typeface="Tenor Sans"/>
              <a:buNone/>
              <a:defRPr sz="123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1"/>
          <p:cNvGrpSpPr/>
          <p:nvPr/>
        </p:nvGrpSpPr>
        <p:grpSpPr>
          <a:xfrm>
            <a:off x="0" y="8414801"/>
            <a:ext cx="18287996" cy="3303286"/>
            <a:chOff x="0" y="-57149"/>
            <a:chExt cx="4816592" cy="870000"/>
          </a:xfrm>
        </p:grpSpPr>
        <p:sp>
          <p:nvSpPr>
            <p:cNvPr id="55" name="Google Shape;55;p11"/>
            <p:cNvSpPr/>
            <p:nvPr/>
          </p:nvSpPr>
          <p:spPr>
            <a:xfrm>
              <a:off x="0" y="0"/>
              <a:ext cx="4816592" cy="435940"/>
            </a:xfrm>
            <a:custGeom>
              <a:avLst/>
              <a:gdLst/>
              <a:ahLst/>
              <a:cxnLst/>
              <a:rect l="l" t="t" r="r" b="b"/>
              <a:pathLst>
                <a:path w="4816592" h="435940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435940"/>
                  </a:lnTo>
                  <a:lnTo>
                    <a:pt x="0" y="43594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Google Shape;56;p11"/>
            <p:cNvSpPr txBox="1"/>
            <p:nvPr/>
          </p:nvSpPr>
          <p:spPr>
            <a:xfrm>
              <a:off x="0" y="-57149"/>
              <a:ext cx="48165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8" name="Google Shape;58;p11"/>
          <p:cNvCxnSpPr/>
          <p:nvPr/>
        </p:nvCxnSpPr>
        <p:spPr>
          <a:xfrm>
            <a:off x="1210628" y="6056361"/>
            <a:ext cx="11339069" cy="0"/>
          </a:xfrm>
          <a:prstGeom prst="straightConnector1">
            <a:avLst/>
          </a:prstGeom>
          <a:noFill/>
          <a:ln w="104775" cap="flat" cmpd="sng">
            <a:solidFill>
              <a:srgbClr val="B4E3E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1210628" y="6401000"/>
            <a:ext cx="16066719" cy="62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sz="2100" dirty="0"/>
              <a:t>Fernando Martinez	Mariyam </a:t>
            </a:r>
            <a:r>
              <a:rPr lang="en-US" sz="2100" dirty="0" err="1"/>
              <a:t>Mapkar</a:t>
            </a:r>
            <a:r>
              <a:rPr lang="en-US" sz="2100" dirty="0"/>
              <a:t>	Ali </a:t>
            </a:r>
            <a:r>
              <a:rPr lang="en-US" sz="2100" dirty="0" err="1"/>
              <a:t>Alfatemi</a:t>
            </a:r>
            <a:r>
              <a:rPr lang="en-US" sz="2100" dirty="0"/>
              <a:t>	Mohamed </a:t>
            </a:r>
            <a:r>
              <a:rPr lang="en-US" sz="2100" dirty="0" err="1"/>
              <a:t>Rahouti</a:t>
            </a:r>
            <a:r>
              <a:rPr lang="en-US" sz="2100" dirty="0"/>
              <a:t>	</a:t>
            </a:r>
            <a:r>
              <a:rPr lang="en-US" sz="2100" dirty="0" err="1"/>
              <a:t>Yufeng</a:t>
            </a:r>
            <a:r>
              <a:rPr lang="en-US" sz="2100" dirty="0"/>
              <a:t> Xin	</a:t>
            </a:r>
            <a:r>
              <a:rPr lang="en-US" sz="2100" dirty="0" err="1"/>
              <a:t>Kaiqi</a:t>
            </a:r>
            <a:r>
              <a:rPr lang="en-US" sz="2100" dirty="0"/>
              <a:t> Xiong	Nasir Ghani</a:t>
            </a:r>
          </a:p>
          <a:p>
            <a:pPr marL="0" indent="0">
              <a:buNone/>
            </a:pPr>
            <a:endParaRPr lang="en-US" sz="21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100" dirty="0"/>
          </a:p>
        </p:txBody>
      </p:sp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1210628" y="1689300"/>
            <a:ext cx="16066719" cy="3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/>
              <a:t>Redefining DDoS Attack Detection Using A </a:t>
            </a:r>
            <a:br>
              <a:rPr lang="en-US" sz="5000" dirty="0"/>
            </a:br>
            <a:r>
              <a:rPr lang="en-US" sz="5000" b="1" dirty="0"/>
              <a:t>Dual-Space Prototypical Network-Based</a:t>
            </a:r>
            <a:r>
              <a:rPr lang="en-US" sz="5000" dirty="0"/>
              <a:t> </a:t>
            </a:r>
            <a:r>
              <a:rPr lang="en-US" sz="5000" b="1" dirty="0"/>
              <a:t>Approach</a:t>
            </a:r>
            <a:endParaRPr sz="5000" b="1" dirty="0"/>
          </a:p>
        </p:txBody>
      </p:sp>
      <p:grpSp>
        <p:nvGrpSpPr>
          <p:cNvPr id="5" name="Google Shape;481;p29">
            <a:extLst>
              <a:ext uri="{FF2B5EF4-FFF2-40B4-BE49-F238E27FC236}">
                <a16:creationId xmlns:a16="http://schemas.microsoft.com/office/drawing/2014/main" id="{8395B10B-B751-6543-1C17-2E1E04F9E1D2}"/>
              </a:ext>
            </a:extLst>
          </p:cNvPr>
          <p:cNvGrpSpPr>
            <a:grpSpLocks noChangeAspect="1"/>
          </p:cNvGrpSpPr>
          <p:nvPr/>
        </p:nvGrpSpPr>
        <p:grpSpPr>
          <a:xfrm>
            <a:off x="14500367" y="6385491"/>
            <a:ext cx="182880" cy="160020"/>
            <a:chOff x="0" y="0"/>
            <a:chExt cx="812800" cy="711200"/>
          </a:xfrm>
        </p:grpSpPr>
        <p:sp>
          <p:nvSpPr>
            <p:cNvPr id="6" name="Google Shape;482;p29">
              <a:extLst>
                <a:ext uri="{FF2B5EF4-FFF2-40B4-BE49-F238E27FC236}">
                  <a16:creationId xmlns:a16="http://schemas.microsoft.com/office/drawing/2014/main" id="{FFF09682-C1E8-9058-7993-F0BBDDC67DB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Google Shape;483;p29">
              <a:extLst>
                <a:ext uri="{FF2B5EF4-FFF2-40B4-BE49-F238E27FC236}">
                  <a16:creationId xmlns:a16="http://schemas.microsoft.com/office/drawing/2014/main" id="{E4F29F7E-CFF8-DC49-D0CD-97D435A0688A}"/>
                </a:ext>
              </a:extLst>
            </p:cNvPr>
            <p:cNvSpPr txBox="1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481;p29">
            <a:extLst>
              <a:ext uri="{FF2B5EF4-FFF2-40B4-BE49-F238E27FC236}">
                <a16:creationId xmlns:a16="http://schemas.microsoft.com/office/drawing/2014/main" id="{9C5A5E09-4A6E-913D-1FA7-38EE6A5AC9E9}"/>
              </a:ext>
            </a:extLst>
          </p:cNvPr>
          <p:cNvGrpSpPr>
            <a:grpSpLocks noChangeAspect="1"/>
          </p:cNvGrpSpPr>
          <p:nvPr/>
        </p:nvGrpSpPr>
        <p:grpSpPr>
          <a:xfrm>
            <a:off x="16433440" y="6410494"/>
            <a:ext cx="182880" cy="160020"/>
            <a:chOff x="0" y="0"/>
            <a:chExt cx="812800" cy="711200"/>
          </a:xfrm>
        </p:grpSpPr>
        <p:sp>
          <p:nvSpPr>
            <p:cNvPr id="9" name="Google Shape;482;p29">
              <a:extLst>
                <a:ext uri="{FF2B5EF4-FFF2-40B4-BE49-F238E27FC236}">
                  <a16:creationId xmlns:a16="http://schemas.microsoft.com/office/drawing/2014/main" id="{8E9A7E4E-C263-E53F-8D97-5AEA41D6BE2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Google Shape;483;p29">
              <a:extLst>
                <a:ext uri="{FF2B5EF4-FFF2-40B4-BE49-F238E27FC236}">
                  <a16:creationId xmlns:a16="http://schemas.microsoft.com/office/drawing/2014/main" id="{8FC0754A-2360-5838-7F96-DFFC4C779421}"/>
                </a:ext>
              </a:extLst>
            </p:cNvPr>
            <p:cNvSpPr txBox="1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487;p29">
            <a:extLst>
              <a:ext uri="{FF2B5EF4-FFF2-40B4-BE49-F238E27FC236}">
                <a16:creationId xmlns:a16="http://schemas.microsoft.com/office/drawing/2014/main" id="{4B55681D-4825-BDCD-83BC-D231871B48B0}"/>
              </a:ext>
            </a:extLst>
          </p:cNvPr>
          <p:cNvGrpSpPr>
            <a:grpSpLocks noChangeAspect="1"/>
          </p:cNvGrpSpPr>
          <p:nvPr/>
        </p:nvGrpSpPr>
        <p:grpSpPr>
          <a:xfrm>
            <a:off x="3450448" y="6442641"/>
            <a:ext cx="182880" cy="182880"/>
            <a:chOff x="0" y="0"/>
            <a:chExt cx="812800" cy="812800"/>
          </a:xfrm>
        </p:grpSpPr>
        <p:sp>
          <p:nvSpPr>
            <p:cNvPr id="12" name="Google Shape;488;p29">
              <a:extLst>
                <a:ext uri="{FF2B5EF4-FFF2-40B4-BE49-F238E27FC236}">
                  <a16:creationId xmlns:a16="http://schemas.microsoft.com/office/drawing/2014/main" id="{44219C17-8599-4164-6D9A-21839D204C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Google Shape;489;p29">
              <a:extLst>
                <a:ext uri="{FF2B5EF4-FFF2-40B4-BE49-F238E27FC236}">
                  <a16:creationId xmlns:a16="http://schemas.microsoft.com/office/drawing/2014/main" id="{3CED5981-ECA7-2E50-7465-92718EF4B6B8}"/>
                </a:ext>
              </a:extLst>
            </p:cNvPr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487;p29">
            <a:extLst>
              <a:ext uri="{FF2B5EF4-FFF2-40B4-BE49-F238E27FC236}">
                <a16:creationId xmlns:a16="http://schemas.microsoft.com/office/drawing/2014/main" id="{3602F5A6-695C-1ADA-EE94-C0791E5E8939}"/>
              </a:ext>
            </a:extLst>
          </p:cNvPr>
          <p:cNvGrpSpPr>
            <a:grpSpLocks noChangeAspect="1"/>
          </p:cNvGrpSpPr>
          <p:nvPr/>
        </p:nvGrpSpPr>
        <p:grpSpPr>
          <a:xfrm>
            <a:off x="6025206" y="6433548"/>
            <a:ext cx="182880" cy="182880"/>
            <a:chOff x="0" y="0"/>
            <a:chExt cx="812800" cy="812800"/>
          </a:xfrm>
        </p:grpSpPr>
        <p:sp>
          <p:nvSpPr>
            <p:cNvPr id="15" name="Google Shape;488;p29">
              <a:extLst>
                <a:ext uri="{FF2B5EF4-FFF2-40B4-BE49-F238E27FC236}">
                  <a16:creationId xmlns:a16="http://schemas.microsoft.com/office/drawing/2014/main" id="{660D031A-F910-441F-6994-D99F7B1E91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489;p29">
              <a:extLst>
                <a:ext uri="{FF2B5EF4-FFF2-40B4-BE49-F238E27FC236}">
                  <a16:creationId xmlns:a16="http://schemas.microsoft.com/office/drawing/2014/main" id="{B5B73D94-E23A-C8CE-EE09-34C0EC8B5088}"/>
                </a:ext>
              </a:extLst>
            </p:cNvPr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487;p29">
            <a:extLst>
              <a:ext uri="{FF2B5EF4-FFF2-40B4-BE49-F238E27FC236}">
                <a16:creationId xmlns:a16="http://schemas.microsoft.com/office/drawing/2014/main" id="{422D35E2-A175-2709-D57C-4A938238FAAF}"/>
              </a:ext>
            </a:extLst>
          </p:cNvPr>
          <p:cNvGrpSpPr>
            <a:grpSpLocks noChangeAspect="1"/>
          </p:cNvGrpSpPr>
          <p:nvPr/>
        </p:nvGrpSpPr>
        <p:grpSpPr>
          <a:xfrm>
            <a:off x="8192629" y="6433548"/>
            <a:ext cx="182880" cy="182880"/>
            <a:chOff x="0" y="0"/>
            <a:chExt cx="812800" cy="812800"/>
          </a:xfrm>
        </p:grpSpPr>
        <p:sp>
          <p:nvSpPr>
            <p:cNvPr id="18" name="Google Shape;488;p29">
              <a:extLst>
                <a:ext uri="{FF2B5EF4-FFF2-40B4-BE49-F238E27FC236}">
                  <a16:creationId xmlns:a16="http://schemas.microsoft.com/office/drawing/2014/main" id="{4C684FD6-D72D-A9E6-A185-7D9E7D25F3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489;p29">
              <a:extLst>
                <a:ext uri="{FF2B5EF4-FFF2-40B4-BE49-F238E27FC236}">
                  <a16:creationId xmlns:a16="http://schemas.microsoft.com/office/drawing/2014/main" id="{9369B866-979A-316D-B6A5-A239BF22CB83}"/>
                </a:ext>
              </a:extLst>
            </p:cNvPr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487;p29">
            <a:extLst>
              <a:ext uri="{FF2B5EF4-FFF2-40B4-BE49-F238E27FC236}">
                <a16:creationId xmlns:a16="http://schemas.microsoft.com/office/drawing/2014/main" id="{72A24478-B828-1076-CB7B-3159F0E776CA}"/>
              </a:ext>
            </a:extLst>
          </p:cNvPr>
          <p:cNvGrpSpPr>
            <a:grpSpLocks noChangeAspect="1"/>
          </p:cNvGrpSpPr>
          <p:nvPr/>
        </p:nvGrpSpPr>
        <p:grpSpPr>
          <a:xfrm>
            <a:off x="10798819" y="6385491"/>
            <a:ext cx="182880" cy="182880"/>
            <a:chOff x="0" y="0"/>
            <a:chExt cx="812800" cy="812800"/>
          </a:xfrm>
        </p:grpSpPr>
        <p:sp>
          <p:nvSpPr>
            <p:cNvPr id="21" name="Google Shape;488;p29">
              <a:extLst>
                <a:ext uri="{FF2B5EF4-FFF2-40B4-BE49-F238E27FC236}">
                  <a16:creationId xmlns:a16="http://schemas.microsoft.com/office/drawing/2014/main" id="{C13EC1A1-96FA-5D55-728C-8DC3F16B5C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Google Shape;489;p29">
              <a:extLst>
                <a:ext uri="{FF2B5EF4-FFF2-40B4-BE49-F238E27FC236}">
                  <a16:creationId xmlns:a16="http://schemas.microsoft.com/office/drawing/2014/main" id="{66BEF255-1D4F-4811-CAFF-EE0AAF500CD4}"/>
                </a:ext>
              </a:extLst>
            </p:cNvPr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475;p29">
            <a:extLst>
              <a:ext uri="{FF2B5EF4-FFF2-40B4-BE49-F238E27FC236}">
                <a16:creationId xmlns:a16="http://schemas.microsoft.com/office/drawing/2014/main" id="{DA968D32-6051-59C2-9C77-45558FD94905}"/>
              </a:ext>
            </a:extLst>
          </p:cNvPr>
          <p:cNvGrpSpPr>
            <a:grpSpLocks noChangeAspect="1"/>
          </p:cNvGrpSpPr>
          <p:nvPr/>
        </p:nvGrpSpPr>
        <p:grpSpPr>
          <a:xfrm>
            <a:off x="12567294" y="6385491"/>
            <a:ext cx="182880" cy="195739"/>
            <a:chOff x="0" y="-57150"/>
            <a:chExt cx="812800" cy="869950"/>
          </a:xfrm>
        </p:grpSpPr>
        <p:sp>
          <p:nvSpPr>
            <p:cNvPr id="24" name="Google Shape;476;p29">
              <a:extLst>
                <a:ext uri="{FF2B5EF4-FFF2-40B4-BE49-F238E27FC236}">
                  <a16:creationId xmlns:a16="http://schemas.microsoft.com/office/drawing/2014/main" id="{ED5A5E08-6B9F-6118-B401-A6BF38E0BE5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Google Shape;477;p29">
              <a:extLst>
                <a:ext uri="{FF2B5EF4-FFF2-40B4-BE49-F238E27FC236}">
                  <a16:creationId xmlns:a16="http://schemas.microsoft.com/office/drawing/2014/main" id="{6B024320-AB1F-2383-D555-E79E90C734B2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475;p29">
            <a:extLst>
              <a:ext uri="{FF2B5EF4-FFF2-40B4-BE49-F238E27FC236}">
                <a16:creationId xmlns:a16="http://schemas.microsoft.com/office/drawing/2014/main" id="{E98EA43B-342C-CC66-4B5A-43638D0D89B5}"/>
              </a:ext>
            </a:extLst>
          </p:cNvPr>
          <p:cNvGrpSpPr>
            <a:grpSpLocks noChangeAspect="1"/>
          </p:cNvGrpSpPr>
          <p:nvPr/>
        </p:nvGrpSpPr>
        <p:grpSpPr>
          <a:xfrm>
            <a:off x="12567294" y="6734050"/>
            <a:ext cx="182880" cy="195739"/>
            <a:chOff x="0" y="-57150"/>
            <a:chExt cx="812800" cy="869950"/>
          </a:xfrm>
        </p:grpSpPr>
        <p:sp>
          <p:nvSpPr>
            <p:cNvPr id="27" name="Google Shape;476;p29">
              <a:extLst>
                <a:ext uri="{FF2B5EF4-FFF2-40B4-BE49-F238E27FC236}">
                  <a16:creationId xmlns:a16="http://schemas.microsoft.com/office/drawing/2014/main" id="{54717588-C444-9DF1-E5F8-69BA59FF8F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prstGeom prst="star5">
              <a:avLst/>
            </a:pr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Google Shape;477;p29">
              <a:extLst>
                <a:ext uri="{FF2B5EF4-FFF2-40B4-BE49-F238E27FC236}">
                  <a16:creationId xmlns:a16="http://schemas.microsoft.com/office/drawing/2014/main" id="{F7EFE053-AD5B-D3BF-A89E-960410520EF4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star5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487;p29">
            <a:extLst>
              <a:ext uri="{FF2B5EF4-FFF2-40B4-BE49-F238E27FC236}">
                <a16:creationId xmlns:a16="http://schemas.microsoft.com/office/drawing/2014/main" id="{77A23C64-D5F8-1323-27FD-1B40247793C3}"/>
              </a:ext>
            </a:extLst>
          </p:cNvPr>
          <p:cNvGrpSpPr>
            <a:grpSpLocks noChangeAspect="1"/>
          </p:cNvGrpSpPr>
          <p:nvPr/>
        </p:nvGrpSpPr>
        <p:grpSpPr>
          <a:xfrm>
            <a:off x="1087104" y="7562158"/>
            <a:ext cx="182880" cy="182880"/>
            <a:chOff x="0" y="0"/>
            <a:chExt cx="812800" cy="812800"/>
          </a:xfrm>
        </p:grpSpPr>
        <p:sp>
          <p:nvSpPr>
            <p:cNvPr id="30" name="Google Shape;488;p29">
              <a:extLst>
                <a:ext uri="{FF2B5EF4-FFF2-40B4-BE49-F238E27FC236}">
                  <a16:creationId xmlns:a16="http://schemas.microsoft.com/office/drawing/2014/main" id="{153A85BC-770D-E47A-CA7A-D2516FFD86B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Google Shape;489;p29">
              <a:extLst>
                <a:ext uri="{FF2B5EF4-FFF2-40B4-BE49-F238E27FC236}">
                  <a16:creationId xmlns:a16="http://schemas.microsoft.com/office/drawing/2014/main" id="{8221208B-8815-5D8B-3B84-80A6BE1DA8D4}"/>
                </a:ext>
              </a:extLst>
            </p:cNvPr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62;p11">
            <a:extLst>
              <a:ext uri="{FF2B5EF4-FFF2-40B4-BE49-F238E27FC236}">
                <a16:creationId xmlns:a16="http://schemas.microsoft.com/office/drawing/2014/main" id="{60EC0ED4-22EE-48B7-5EA5-A757E727561F}"/>
              </a:ext>
            </a:extLst>
          </p:cNvPr>
          <p:cNvSpPr txBox="1">
            <a:spLocks/>
          </p:cNvSpPr>
          <p:nvPr/>
        </p:nvSpPr>
        <p:spPr>
          <a:xfrm>
            <a:off x="1270636" y="7404508"/>
            <a:ext cx="16066719" cy="1209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>
              <a:buFont typeface="Assistant"/>
              <a:buNone/>
            </a:pPr>
            <a:r>
              <a:rPr lang="en-US" sz="2100" dirty="0"/>
              <a:t>Fordham University	     UNC Chapel Hill</a:t>
            </a:r>
          </a:p>
          <a:p>
            <a:pPr marL="0" indent="0">
              <a:buFont typeface="Assistant"/>
              <a:buNone/>
            </a:pPr>
            <a:r>
              <a:rPr lang="en-US" sz="2100" dirty="0"/>
              <a:t>RENCI			     University of South Florida</a:t>
            </a:r>
          </a:p>
          <a:p>
            <a:pPr marL="0" indent="0">
              <a:buFont typeface="Assistant"/>
              <a:buNone/>
            </a:pPr>
            <a:endParaRPr lang="en-US" sz="2100" dirty="0"/>
          </a:p>
        </p:txBody>
      </p:sp>
      <p:grpSp>
        <p:nvGrpSpPr>
          <p:cNvPr id="33" name="Google Shape;475;p29">
            <a:extLst>
              <a:ext uri="{FF2B5EF4-FFF2-40B4-BE49-F238E27FC236}">
                <a16:creationId xmlns:a16="http://schemas.microsoft.com/office/drawing/2014/main" id="{144E9CA3-9E57-09E3-B665-4CE17BC1A111}"/>
              </a:ext>
            </a:extLst>
          </p:cNvPr>
          <p:cNvGrpSpPr>
            <a:grpSpLocks noChangeAspect="1"/>
          </p:cNvGrpSpPr>
          <p:nvPr/>
        </p:nvGrpSpPr>
        <p:grpSpPr>
          <a:xfrm>
            <a:off x="1080596" y="7946116"/>
            <a:ext cx="182880" cy="195739"/>
            <a:chOff x="0" y="-57150"/>
            <a:chExt cx="812800" cy="869950"/>
          </a:xfrm>
        </p:grpSpPr>
        <p:sp>
          <p:nvSpPr>
            <p:cNvPr id="34" name="Google Shape;476;p29">
              <a:extLst>
                <a:ext uri="{FF2B5EF4-FFF2-40B4-BE49-F238E27FC236}">
                  <a16:creationId xmlns:a16="http://schemas.microsoft.com/office/drawing/2014/main" id="{094C0C28-966B-7110-AF02-BA540DFEC7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Google Shape;477;p29">
              <a:extLst>
                <a:ext uri="{FF2B5EF4-FFF2-40B4-BE49-F238E27FC236}">
                  <a16:creationId xmlns:a16="http://schemas.microsoft.com/office/drawing/2014/main" id="{2897F9C8-9793-54F5-069D-536DBE0B8214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475;p29">
            <a:extLst>
              <a:ext uri="{FF2B5EF4-FFF2-40B4-BE49-F238E27FC236}">
                <a16:creationId xmlns:a16="http://schemas.microsoft.com/office/drawing/2014/main" id="{7F01499D-A5BA-E519-2464-4CAEB43D2D4E}"/>
              </a:ext>
            </a:extLst>
          </p:cNvPr>
          <p:cNvGrpSpPr>
            <a:grpSpLocks noChangeAspect="1"/>
          </p:cNvGrpSpPr>
          <p:nvPr/>
        </p:nvGrpSpPr>
        <p:grpSpPr>
          <a:xfrm>
            <a:off x="4137168" y="7541703"/>
            <a:ext cx="182880" cy="195739"/>
            <a:chOff x="0" y="-57150"/>
            <a:chExt cx="812800" cy="869950"/>
          </a:xfrm>
        </p:grpSpPr>
        <p:sp>
          <p:nvSpPr>
            <p:cNvPr id="37" name="Google Shape;476;p29">
              <a:extLst>
                <a:ext uri="{FF2B5EF4-FFF2-40B4-BE49-F238E27FC236}">
                  <a16:creationId xmlns:a16="http://schemas.microsoft.com/office/drawing/2014/main" id="{97B8521A-73AC-16A8-536B-B7467CEADFA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prstGeom prst="star5">
              <a:avLst/>
            </a:pr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Google Shape;477;p29">
              <a:extLst>
                <a:ext uri="{FF2B5EF4-FFF2-40B4-BE49-F238E27FC236}">
                  <a16:creationId xmlns:a16="http://schemas.microsoft.com/office/drawing/2014/main" id="{A56BD36D-D25F-CE63-F206-94DC9E2FD3B7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star5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481;p29">
            <a:extLst>
              <a:ext uri="{FF2B5EF4-FFF2-40B4-BE49-F238E27FC236}">
                <a16:creationId xmlns:a16="http://schemas.microsoft.com/office/drawing/2014/main" id="{F5741AC7-D1AE-84D2-C879-D663DD64825C}"/>
              </a:ext>
            </a:extLst>
          </p:cNvPr>
          <p:cNvGrpSpPr>
            <a:grpSpLocks noChangeAspect="1"/>
          </p:cNvGrpSpPr>
          <p:nvPr/>
        </p:nvGrpSpPr>
        <p:grpSpPr>
          <a:xfrm>
            <a:off x="4137168" y="7929114"/>
            <a:ext cx="182880" cy="160020"/>
            <a:chOff x="0" y="0"/>
            <a:chExt cx="812800" cy="711200"/>
          </a:xfrm>
        </p:grpSpPr>
        <p:sp>
          <p:nvSpPr>
            <p:cNvPr id="40" name="Google Shape;482;p29">
              <a:extLst>
                <a:ext uri="{FF2B5EF4-FFF2-40B4-BE49-F238E27FC236}">
                  <a16:creationId xmlns:a16="http://schemas.microsoft.com/office/drawing/2014/main" id="{83E88B6E-D773-49A6-E4F5-04D763F13ED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Google Shape;483;p29">
              <a:extLst>
                <a:ext uri="{FF2B5EF4-FFF2-40B4-BE49-F238E27FC236}">
                  <a16:creationId xmlns:a16="http://schemas.microsoft.com/office/drawing/2014/main" id="{3F81A591-D4E7-FDF8-CBFB-8E4C08F9B60C}"/>
                </a:ext>
              </a:extLst>
            </p:cNvPr>
            <p:cNvSpPr txBox="1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918550" y="1019175"/>
            <a:ext cx="9782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0C48BB"/>
                </a:solidFill>
                <a:latin typeface="Tenor Sans"/>
                <a:sym typeface="Tenor Sans"/>
              </a:rPr>
              <a:t>Introduction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1488155" y="3373081"/>
            <a:ext cx="15981700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dirty="0">
                <a:solidFill>
                  <a:srgbClr val="0E0E0E"/>
                </a:solidFill>
                <a:effectLst/>
                <a:latin typeface=".SF NS"/>
              </a:rPr>
              <a:t>Distributed Denial of Service (DDoS) attacks pose a significant and growing cybersecurity challenge, disrupting operations within organizations worldwide. </a:t>
            </a:r>
          </a:p>
          <a:p>
            <a:endParaRPr lang="en-US" sz="3200" dirty="0">
              <a:solidFill>
                <a:srgbClr val="0E0E0E"/>
              </a:solidFill>
              <a:latin typeface=".SF NS"/>
            </a:endParaRPr>
          </a:p>
          <a:p>
            <a:r>
              <a:rPr lang="en-US" sz="3200" dirty="0">
                <a:solidFill>
                  <a:srgbClr val="0E0E0E"/>
                </a:solidFill>
                <a:effectLst/>
                <a:latin typeface=".SF NS"/>
              </a:rPr>
              <a:t>Traditional detection systems struggle to keep pace with evolving attack methods, underscoring the need for innovative solutions that adapt to the dynamic nature of cybersecurity threats. </a:t>
            </a:r>
          </a:p>
          <a:p>
            <a:endParaRPr lang="en-US" sz="3200" dirty="0">
              <a:solidFill>
                <a:srgbClr val="0E0E0E"/>
              </a:solidFill>
              <a:latin typeface=".SF NS"/>
            </a:endParaRPr>
          </a:p>
          <a:p>
            <a:r>
              <a:rPr lang="en-US" sz="3200" dirty="0">
                <a:solidFill>
                  <a:srgbClr val="0E0E0E"/>
                </a:solidFill>
                <a:effectLst/>
                <a:latin typeface=".SF NS"/>
              </a:rPr>
              <a:t>Our work introduces a groundbreaking solution: a dual-space prototypical network that leverages geometric and angular spaces, effectively improving detection and adaptability to both known and novel DDoS patterns.</a:t>
            </a:r>
          </a:p>
        </p:txBody>
      </p:sp>
      <p:sp>
        <p:nvSpPr>
          <p:cNvPr id="95" name="Google Shape;95;p13"/>
          <p:cNvSpPr/>
          <p:nvPr/>
        </p:nvSpPr>
        <p:spPr>
          <a:xfrm>
            <a:off x="0" y="9258300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8971816" h="504665" extrusionOk="0">
                <a:moveTo>
                  <a:pt x="0" y="0"/>
                </a:moveTo>
                <a:lnTo>
                  <a:pt x="8971816" y="0"/>
                </a:lnTo>
                <a:lnTo>
                  <a:pt x="8971816" y="504665"/>
                </a:lnTo>
                <a:lnTo>
                  <a:pt x="0" y="504665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Google Shape;98;p13"/>
          <p:cNvSpPr/>
          <p:nvPr/>
        </p:nvSpPr>
        <p:spPr>
          <a:xfrm>
            <a:off x="12397478" y="9090528"/>
            <a:ext cx="6019800" cy="335544"/>
          </a:xfrm>
          <a:custGeom>
            <a:avLst/>
            <a:gdLst/>
            <a:ahLst/>
            <a:cxnLst/>
            <a:rect l="l" t="t" r="r" b="b"/>
            <a:pathLst>
              <a:path w="1585462" h="88374" extrusionOk="0">
                <a:moveTo>
                  <a:pt x="0" y="0"/>
                </a:moveTo>
                <a:lnTo>
                  <a:pt x="1585462" y="0"/>
                </a:lnTo>
                <a:lnTo>
                  <a:pt x="158546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Google Shape;99;p13"/>
          <p:cNvSpPr/>
          <p:nvPr/>
        </p:nvSpPr>
        <p:spPr>
          <a:xfrm>
            <a:off x="1011904" y="3452958"/>
            <a:ext cx="333375" cy="335544"/>
          </a:xfrm>
          <a:custGeom>
            <a:avLst/>
            <a:gdLst/>
            <a:ahLst/>
            <a:cxnLst/>
            <a:rect l="l" t="t" r="r" b="b"/>
            <a:pathLst>
              <a:path w="87802" h="88374" extrusionOk="0">
                <a:moveTo>
                  <a:pt x="0" y="0"/>
                </a:moveTo>
                <a:lnTo>
                  <a:pt x="87802" y="0"/>
                </a:lnTo>
                <a:lnTo>
                  <a:pt x="8780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Google Shape;99;p13">
            <a:extLst>
              <a:ext uri="{FF2B5EF4-FFF2-40B4-BE49-F238E27FC236}">
                <a16:creationId xmlns:a16="http://schemas.microsoft.com/office/drawing/2014/main" id="{B2223254-EB70-8132-48D3-3AF6AFECE250}"/>
              </a:ext>
            </a:extLst>
          </p:cNvPr>
          <p:cNvSpPr/>
          <p:nvPr/>
        </p:nvSpPr>
        <p:spPr>
          <a:xfrm>
            <a:off x="1011902" y="4907129"/>
            <a:ext cx="333375" cy="335544"/>
          </a:xfrm>
          <a:custGeom>
            <a:avLst/>
            <a:gdLst/>
            <a:ahLst/>
            <a:cxnLst/>
            <a:rect l="l" t="t" r="r" b="b"/>
            <a:pathLst>
              <a:path w="87802" h="88374" extrusionOk="0">
                <a:moveTo>
                  <a:pt x="0" y="0"/>
                </a:moveTo>
                <a:lnTo>
                  <a:pt x="87802" y="0"/>
                </a:lnTo>
                <a:lnTo>
                  <a:pt x="8780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ogle Shape;99;p13">
            <a:extLst>
              <a:ext uri="{FF2B5EF4-FFF2-40B4-BE49-F238E27FC236}">
                <a16:creationId xmlns:a16="http://schemas.microsoft.com/office/drawing/2014/main" id="{2654FE88-C57C-D38E-D814-A02557D16C42}"/>
              </a:ext>
            </a:extLst>
          </p:cNvPr>
          <p:cNvSpPr/>
          <p:nvPr/>
        </p:nvSpPr>
        <p:spPr>
          <a:xfrm>
            <a:off x="1011903" y="6419797"/>
            <a:ext cx="333375" cy="335544"/>
          </a:xfrm>
          <a:custGeom>
            <a:avLst/>
            <a:gdLst/>
            <a:ahLst/>
            <a:cxnLst/>
            <a:rect l="l" t="t" r="r" b="b"/>
            <a:pathLst>
              <a:path w="87802" h="88374" extrusionOk="0">
                <a:moveTo>
                  <a:pt x="0" y="0"/>
                </a:moveTo>
                <a:lnTo>
                  <a:pt x="87802" y="0"/>
                </a:lnTo>
                <a:lnTo>
                  <a:pt x="8780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8BB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15"/>
          <p:cNvCxnSpPr/>
          <p:nvPr/>
        </p:nvCxnSpPr>
        <p:spPr>
          <a:xfrm>
            <a:off x="9601200" y="0"/>
            <a:ext cx="0" cy="10287000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15"/>
          <p:cNvSpPr txBox="1"/>
          <p:nvPr/>
        </p:nvSpPr>
        <p:spPr>
          <a:xfrm>
            <a:off x="1102300" y="828675"/>
            <a:ext cx="81207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Problem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FFFFFF"/>
                </a:solidFill>
                <a:latin typeface="Tenor Sans"/>
                <a:sym typeface="Tenor Sans"/>
              </a:rPr>
              <a:t>Statement</a:t>
            </a:r>
            <a:endParaRPr dirty="0"/>
          </a:p>
        </p:txBody>
      </p:sp>
      <p:sp>
        <p:nvSpPr>
          <p:cNvPr id="156" name="Google Shape;156;p15"/>
          <p:cNvSpPr txBox="1"/>
          <p:nvPr/>
        </p:nvSpPr>
        <p:spPr>
          <a:xfrm>
            <a:off x="1102296" y="5312840"/>
            <a:ext cx="42069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The sophistication of DDoS attacks outpaces traditional defense mechanisms</a:t>
            </a:r>
            <a:endParaRPr lang="en-US" dirty="0"/>
          </a:p>
        </p:txBody>
      </p:sp>
      <p:sp>
        <p:nvSpPr>
          <p:cNvPr id="157" name="Google Shape;157;p15"/>
          <p:cNvSpPr txBox="1"/>
          <p:nvPr/>
        </p:nvSpPr>
        <p:spPr>
          <a:xfrm>
            <a:off x="9992044" y="1116013"/>
            <a:ext cx="3522949" cy="49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Evolving Attack Methods</a:t>
            </a:r>
            <a:endParaRPr dirty="0"/>
          </a:p>
        </p:txBody>
      </p:sp>
      <p:sp>
        <p:nvSpPr>
          <p:cNvPr id="158" name="Google Shape;158;p15"/>
          <p:cNvSpPr txBox="1"/>
          <p:nvPr/>
        </p:nvSpPr>
        <p:spPr>
          <a:xfrm>
            <a:off x="9992044" y="1640129"/>
            <a:ext cx="4899609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DDoS attacks have become increasingly sophisticated, adapting to bypass traditional defense mechanisms.</a:t>
            </a:r>
            <a:endParaRPr dirty="0"/>
          </a:p>
        </p:txBody>
      </p:sp>
      <p:sp>
        <p:nvSpPr>
          <p:cNvPr id="159" name="Google Shape;159;p15"/>
          <p:cNvSpPr/>
          <p:nvPr/>
        </p:nvSpPr>
        <p:spPr>
          <a:xfrm>
            <a:off x="1014981" y="7744699"/>
            <a:ext cx="4147669" cy="149970"/>
          </a:xfrm>
          <a:custGeom>
            <a:avLst/>
            <a:gdLst/>
            <a:ahLst/>
            <a:cxnLst/>
            <a:rect l="l" t="t" r="r" b="b"/>
            <a:pathLst>
              <a:path w="1092383" h="39498" extrusionOk="0">
                <a:moveTo>
                  <a:pt x="0" y="0"/>
                </a:moveTo>
                <a:lnTo>
                  <a:pt x="1092383" y="0"/>
                </a:lnTo>
                <a:lnTo>
                  <a:pt x="1092383" y="39498"/>
                </a:lnTo>
                <a:lnTo>
                  <a:pt x="0" y="39498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Google Shape;160;p15"/>
          <p:cNvSpPr txBox="1"/>
          <p:nvPr/>
        </p:nvSpPr>
        <p:spPr>
          <a:xfrm>
            <a:off x="9992044" y="3375565"/>
            <a:ext cx="3761259" cy="49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Limitations of Static Models</a:t>
            </a:r>
            <a:endParaRPr dirty="0"/>
          </a:p>
        </p:txBody>
      </p:sp>
      <p:sp>
        <p:nvSpPr>
          <p:cNvPr id="161" name="Google Shape;161;p15"/>
          <p:cNvSpPr txBox="1"/>
          <p:nvPr/>
        </p:nvSpPr>
        <p:spPr>
          <a:xfrm>
            <a:off x="9992044" y="3899681"/>
            <a:ext cx="5160859" cy="492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Existing detection methods often rely on static models, which lack flexibility and fail to adapt to new attack strategies.</a:t>
            </a:r>
            <a:endParaRPr dirty="0"/>
          </a:p>
        </p:txBody>
      </p:sp>
      <p:sp>
        <p:nvSpPr>
          <p:cNvPr id="162" name="Google Shape;162;p15"/>
          <p:cNvSpPr txBox="1"/>
          <p:nvPr/>
        </p:nvSpPr>
        <p:spPr>
          <a:xfrm>
            <a:off x="9992044" y="5635117"/>
            <a:ext cx="4358437" cy="49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Dynamic Threat Landscape</a:t>
            </a:r>
            <a:endParaRPr dirty="0"/>
          </a:p>
        </p:txBody>
      </p:sp>
      <p:sp>
        <p:nvSpPr>
          <p:cNvPr id="163" name="Google Shape;163;p15"/>
          <p:cNvSpPr txBox="1"/>
          <p:nvPr/>
        </p:nvSpPr>
        <p:spPr>
          <a:xfrm>
            <a:off x="9992044" y="6159233"/>
            <a:ext cx="5478101" cy="492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The continuous adjustment of attack strategies by malicious actors renders static detection methods ineffective.</a:t>
            </a:r>
            <a:endParaRPr dirty="0"/>
          </a:p>
        </p:txBody>
      </p:sp>
      <p:sp>
        <p:nvSpPr>
          <p:cNvPr id="164" name="Google Shape;164;p15"/>
          <p:cNvSpPr txBox="1"/>
          <p:nvPr/>
        </p:nvSpPr>
        <p:spPr>
          <a:xfrm>
            <a:off x="9992044" y="7894669"/>
            <a:ext cx="4047703" cy="49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Need for Adaptive Solutions</a:t>
            </a:r>
            <a:endParaRPr b="1" dirty="0"/>
          </a:p>
        </p:txBody>
      </p:sp>
      <p:sp>
        <p:nvSpPr>
          <p:cNvPr id="165" name="Google Shape;165;p15"/>
          <p:cNvSpPr txBox="1"/>
          <p:nvPr/>
        </p:nvSpPr>
        <p:spPr>
          <a:xfrm>
            <a:off x="9992044" y="8418785"/>
            <a:ext cx="5758017" cy="492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There is a pressing need for adaptive, accurate, and robust detection methods that can dynamically adjust to evolving threat landscapes.</a:t>
            </a:r>
            <a:endParaRPr dirty="0"/>
          </a:p>
        </p:txBody>
      </p:sp>
      <p:sp>
        <p:nvSpPr>
          <p:cNvPr id="166" name="Google Shape;166;p15"/>
          <p:cNvSpPr/>
          <p:nvPr/>
        </p:nvSpPr>
        <p:spPr>
          <a:xfrm>
            <a:off x="9448800" y="1181100"/>
            <a:ext cx="317501" cy="317501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9448800" y="3418216"/>
            <a:ext cx="317501" cy="317501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448800" y="5680296"/>
            <a:ext cx="317501" cy="317501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448800" y="7965247"/>
            <a:ext cx="317501" cy="317501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/>
          <p:nvPr/>
        </p:nvSpPr>
        <p:spPr>
          <a:xfrm>
            <a:off x="0" y="0"/>
            <a:ext cx="18288000" cy="10325100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Google Shape;193;p16"/>
          <p:cNvSpPr/>
          <p:nvPr/>
        </p:nvSpPr>
        <p:spPr>
          <a:xfrm>
            <a:off x="2296470" y="3491705"/>
            <a:ext cx="2325311" cy="2335734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75" name="Google Shape;175;p16"/>
          <p:cNvCxnSpPr/>
          <p:nvPr/>
        </p:nvCxnSpPr>
        <p:spPr>
          <a:xfrm rot="-5400000">
            <a:off x="3123243" y="6406520"/>
            <a:ext cx="6195557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" name="Google Shape;176;p16"/>
          <p:cNvCxnSpPr/>
          <p:nvPr/>
        </p:nvCxnSpPr>
        <p:spPr>
          <a:xfrm rot="-5400000">
            <a:off x="8946481" y="6406520"/>
            <a:ext cx="6195557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8" name="Google Shape;178;p16"/>
          <p:cNvGrpSpPr/>
          <p:nvPr/>
        </p:nvGrpSpPr>
        <p:grpSpPr>
          <a:xfrm>
            <a:off x="7761047" y="3491705"/>
            <a:ext cx="2325311" cy="2335734"/>
            <a:chOff x="1813" y="0"/>
            <a:chExt cx="809173" cy="812800"/>
          </a:xfrm>
        </p:grpSpPr>
        <p:sp>
          <p:nvSpPr>
            <p:cNvPr id="179" name="Google Shape;179;p1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6"/>
          <p:cNvSpPr/>
          <p:nvPr/>
        </p:nvSpPr>
        <p:spPr>
          <a:xfrm rot="4226047">
            <a:off x="8347530" y="3784527"/>
            <a:ext cx="1260641" cy="1537773"/>
          </a:xfrm>
          <a:custGeom>
            <a:avLst/>
            <a:gdLst/>
            <a:ahLst/>
            <a:cxnLst/>
            <a:rect l="l" t="t" r="r" b="b"/>
            <a:pathLst>
              <a:path w="1680854" h="2050364" extrusionOk="0">
                <a:moveTo>
                  <a:pt x="1680854" y="1630295"/>
                </a:moveTo>
                <a:lnTo>
                  <a:pt x="1680854" y="1722385"/>
                </a:lnTo>
                <a:cubicBezTo>
                  <a:pt x="1680854" y="1760017"/>
                  <a:pt x="1654795" y="1790591"/>
                  <a:pt x="1622744" y="1790591"/>
                </a:cubicBezTo>
                <a:lnTo>
                  <a:pt x="1177764" y="1790591"/>
                </a:lnTo>
                <a:cubicBezTo>
                  <a:pt x="1165986" y="1818005"/>
                  <a:pt x="1153510" y="1845459"/>
                  <a:pt x="1140295" y="1872955"/>
                </a:cubicBezTo>
                <a:cubicBezTo>
                  <a:pt x="1135986" y="1881902"/>
                  <a:pt x="1129831" y="1889863"/>
                  <a:pt x="1122033" y="1896634"/>
                </a:cubicBezTo>
                <a:cubicBezTo>
                  <a:pt x="1107957" y="1908864"/>
                  <a:pt x="1089736" y="1915922"/>
                  <a:pt x="1070325" y="1916990"/>
                </a:cubicBezTo>
                <a:lnTo>
                  <a:pt x="1070325" y="2008341"/>
                </a:lnTo>
                <a:cubicBezTo>
                  <a:pt x="1070325" y="2031528"/>
                  <a:pt x="1051447" y="2050365"/>
                  <a:pt x="1028301" y="2050365"/>
                </a:cubicBezTo>
                <a:lnTo>
                  <a:pt x="652553" y="2050365"/>
                </a:lnTo>
                <a:cubicBezTo>
                  <a:pt x="629407" y="2050365"/>
                  <a:pt x="610530" y="2031528"/>
                  <a:pt x="610530" y="2008341"/>
                </a:cubicBezTo>
                <a:lnTo>
                  <a:pt x="610530" y="1917031"/>
                </a:lnTo>
                <a:cubicBezTo>
                  <a:pt x="579956" y="1915348"/>
                  <a:pt x="552830" y="1898440"/>
                  <a:pt x="540518" y="1872955"/>
                </a:cubicBezTo>
                <a:cubicBezTo>
                  <a:pt x="527304" y="1845459"/>
                  <a:pt x="514869" y="1818005"/>
                  <a:pt x="503050" y="1790591"/>
                </a:cubicBezTo>
                <a:lnTo>
                  <a:pt x="58111" y="1790591"/>
                </a:lnTo>
                <a:cubicBezTo>
                  <a:pt x="26059" y="1790591"/>
                  <a:pt x="0" y="1760017"/>
                  <a:pt x="0" y="1722385"/>
                </a:cubicBezTo>
                <a:lnTo>
                  <a:pt x="0" y="1630295"/>
                </a:lnTo>
                <a:cubicBezTo>
                  <a:pt x="0" y="1607724"/>
                  <a:pt x="6320" y="1585604"/>
                  <a:pt x="17770" y="1567998"/>
                </a:cubicBezTo>
                <a:lnTo>
                  <a:pt x="364381" y="1033062"/>
                </a:lnTo>
                <a:cubicBezTo>
                  <a:pt x="372588" y="926033"/>
                  <a:pt x="392944" y="816584"/>
                  <a:pt x="425159" y="706436"/>
                </a:cubicBezTo>
                <a:cubicBezTo>
                  <a:pt x="459426" y="589354"/>
                  <a:pt x="507154" y="471122"/>
                  <a:pt x="567029" y="355024"/>
                </a:cubicBezTo>
                <a:cubicBezTo>
                  <a:pt x="668722" y="157957"/>
                  <a:pt x="770744" y="34513"/>
                  <a:pt x="775012" y="29384"/>
                </a:cubicBezTo>
                <a:cubicBezTo>
                  <a:pt x="790401" y="10957"/>
                  <a:pt x="814819" y="0"/>
                  <a:pt x="840427" y="0"/>
                </a:cubicBezTo>
                <a:cubicBezTo>
                  <a:pt x="866035" y="0"/>
                  <a:pt x="890494" y="10957"/>
                  <a:pt x="905802" y="29384"/>
                </a:cubicBezTo>
                <a:cubicBezTo>
                  <a:pt x="909987" y="34390"/>
                  <a:pt x="1010983" y="155741"/>
                  <a:pt x="1113826" y="355024"/>
                </a:cubicBezTo>
                <a:cubicBezTo>
                  <a:pt x="1173701" y="471163"/>
                  <a:pt x="1221429" y="589395"/>
                  <a:pt x="1255696" y="706477"/>
                </a:cubicBezTo>
                <a:cubicBezTo>
                  <a:pt x="1287911" y="816584"/>
                  <a:pt x="1308266" y="926033"/>
                  <a:pt x="1316474" y="1033062"/>
                </a:cubicBezTo>
                <a:lnTo>
                  <a:pt x="1663126" y="1567998"/>
                </a:lnTo>
                <a:cubicBezTo>
                  <a:pt x="1674535" y="1585604"/>
                  <a:pt x="1680854" y="1607724"/>
                  <a:pt x="1680854" y="1630295"/>
                </a:cubicBez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 rot="4226047">
            <a:off x="8347530" y="3784527"/>
            <a:ext cx="1260641" cy="1537773"/>
          </a:xfrm>
          <a:custGeom>
            <a:avLst/>
            <a:gdLst/>
            <a:ahLst/>
            <a:cxnLst/>
            <a:rect l="l" t="t" r="r" b="b"/>
            <a:pathLst>
              <a:path w="1680854" h="2050364" extrusionOk="0">
                <a:moveTo>
                  <a:pt x="1663126" y="1567998"/>
                </a:moveTo>
                <a:lnTo>
                  <a:pt x="1316474" y="1033062"/>
                </a:lnTo>
                <a:cubicBezTo>
                  <a:pt x="1308266" y="926033"/>
                  <a:pt x="1287911" y="816584"/>
                  <a:pt x="1255696" y="706477"/>
                </a:cubicBezTo>
                <a:cubicBezTo>
                  <a:pt x="1221429" y="589395"/>
                  <a:pt x="1173701" y="471163"/>
                  <a:pt x="1113826" y="355024"/>
                </a:cubicBezTo>
                <a:cubicBezTo>
                  <a:pt x="1010983" y="155741"/>
                  <a:pt x="909987" y="34390"/>
                  <a:pt x="905802" y="29384"/>
                </a:cubicBezTo>
                <a:cubicBezTo>
                  <a:pt x="890494" y="10957"/>
                  <a:pt x="866035" y="0"/>
                  <a:pt x="840427" y="0"/>
                </a:cubicBezTo>
                <a:cubicBezTo>
                  <a:pt x="814819" y="0"/>
                  <a:pt x="790401" y="10957"/>
                  <a:pt x="775012" y="29384"/>
                </a:cubicBezTo>
                <a:cubicBezTo>
                  <a:pt x="770744" y="34513"/>
                  <a:pt x="668722" y="157957"/>
                  <a:pt x="567029" y="355024"/>
                </a:cubicBezTo>
                <a:cubicBezTo>
                  <a:pt x="507154" y="471122"/>
                  <a:pt x="459426" y="589354"/>
                  <a:pt x="425159" y="706436"/>
                </a:cubicBezTo>
                <a:cubicBezTo>
                  <a:pt x="392944" y="816584"/>
                  <a:pt x="372588" y="926033"/>
                  <a:pt x="364381" y="1033062"/>
                </a:cubicBezTo>
                <a:lnTo>
                  <a:pt x="17770" y="1567998"/>
                </a:lnTo>
                <a:cubicBezTo>
                  <a:pt x="6320" y="1585604"/>
                  <a:pt x="0" y="1607724"/>
                  <a:pt x="0" y="1630295"/>
                </a:cubicBezTo>
                <a:lnTo>
                  <a:pt x="0" y="1722385"/>
                </a:lnTo>
                <a:cubicBezTo>
                  <a:pt x="0" y="1760017"/>
                  <a:pt x="26059" y="1790591"/>
                  <a:pt x="58111" y="1790591"/>
                </a:cubicBezTo>
                <a:lnTo>
                  <a:pt x="503050" y="1790591"/>
                </a:lnTo>
                <a:cubicBezTo>
                  <a:pt x="514869" y="1818005"/>
                  <a:pt x="527304" y="1845459"/>
                  <a:pt x="540518" y="1872955"/>
                </a:cubicBezTo>
                <a:cubicBezTo>
                  <a:pt x="552830" y="1898440"/>
                  <a:pt x="579956" y="1915348"/>
                  <a:pt x="610530" y="1917031"/>
                </a:cubicBezTo>
                <a:lnTo>
                  <a:pt x="610530" y="2008341"/>
                </a:lnTo>
                <a:cubicBezTo>
                  <a:pt x="610530" y="2031528"/>
                  <a:pt x="629407" y="2050365"/>
                  <a:pt x="652553" y="2050365"/>
                </a:cubicBezTo>
                <a:lnTo>
                  <a:pt x="1028301" y="2050365"/>
                </a:lnTo>
                <a:cubicBezTo>
                  <a:pt x="1051447" y="2050365"/>
                  <a:pt x="1070325" y="2031528"/>
                  <a:pt x="1070325" y="2008341"/>
                </a:cubicBezTo>
                <a:lnTo>
                  <a:pt x="1070325" y="1916990"/>
                </a:lnTo>
                <a:cubicBezTo>
                  <a:pt x="1089736" y="1915922"/>
                  <a:pt x="1107957" y="1908864"/>
                  <a:pt x="1122033" y="1896634"/>
                </a:cubicBezTo>
                <a:cubicBezTo>
                  <a:pt x="1129831" y="1889863"/>
                  <a:pt x="1135986" y="1881902"/>
                  <a:pt x="1140295" y="1872955"/>
                </a:cubicBezTo>
                <a:cubicBezTo>
                  <a:pt x="1153510" y="1845459"/>
                  <a:pt x="1165986" y="1818005"/>
                  <a:pt x="1177764" y="1790591"/>
                </a:cubicBezTo>
                <a:lnTo>
                  <a:pt x="1622744" y="1790591"/>
                </a:lnTo>
                <a:cubicBezTo>
                  <a:pt x="1654795" y="1790591"/>
                  <a:pt x="1680854" y="1760017"/>
                  <a:pt x="1680854" y="1722385"/>
                </a:cubicBezTo>
                <a:lnTo>
                  <a:pt x="1680854" y="1630295"/>
                </a:lnTo>
                <a:cubicBezTo>
                  <a:pt x="1680854" y="1607724"/>
                  <a:pt x="1674535" y="1585604"/>
                  <a:pt x="1663126" y="1567998"/>
                </a:cubicBezTo>
                <a:close/>
                <a:moveTo>
                  <a:pt x="1320413" y="1114564"/>
                </a:moveTo>
                <a:lnTo>
                  <a:pt x="1628695" y="1590323"/>
                </a:lnTo>
                <a:cubicBezTo>
                  <a:pt x="1632429" y="1596069"/>
                  <a:pt x="1635261" y="1602717"/>
                  <a:pt x="1637148" y="1609776"/>
                </a:cubicBezTo>
                <a:lnTo>
                  <a:pt x="1245190" y="1609776"/>
                </a:lnTo>
                <a:cubicBezTo>
                  <a:pt x="1295298" y="1450833"/>
                  <a:pt x="1320660" y="1293820"/>
                  <a:pt x="1320660" y="1140583"/>
                </a:cubicBezTo>
                <a:cubicBezTo>
                  <a:pt x="1320660" y="1131923"/>
                  <a:pt x="1320578" y="1123264"/>
                  <a:pt x="1320413" y="1114564"/>
                </a:cubicBezTo>
                <a:close/>
                <a:moveTo>
                  <a:pt x="52201" y="1590323"/>
                </a:moveTo>
                <a:lnTo>
                  <a:pt x="360441" y="1114564"/>
                </a:lnTo>
                <a:cubicBezTo>
                  <a:pt x="360277" y="1123264"/>
                  <a:pt x="360195" y="1131923"/>
                  <a:pt x="360195" y="1140583"/>
                </a:cubicBezTo>
                <a:cubicBezTo>
                  <a:pt x="360195" y="1293820"/>
                  <a:pt x="385516" y="1450833"/>
                  <a:pt x="435665" y="1609776"/>
                </a:cubicBezTo>
                <a:lnTo>
                  <a:pt x="43706" y="1609776"/>
                </a:lnTo>
                <a:cubicBezTo>
                  <a:pt x="45594" y="1602717"/>
                  <a:pt x="48466" y="1596069"/>
                  <a:pt x="52201" y="1590323"/>
                </a:cubicBezTo>
                <a:close/>
                <a:moveTo>
                  <a:pt x="58111" y="1749553"/>
                </a:moveTo>
                <a:cubicBezTo>
                  <a:pt x="50026" y="1749553"/>
                  <a:pt x="41038" y="1738390"/>
                  <a:pt x="41038" y="1722385"/>
                </a:cubicBezTo>
                <a:lnTo>
                  <a:pt x="41038" y="1650814"/>
                </a:lnTo>
                <a:lnTo>
                  <a:pt x="449166" y="1650814"/>
                </a:lnTo>
                <a:cubicBezTo>
                  <a:pt x="460370" y="1683686"/>
                  <a:pt x="472640" y="1716599"/>
                  <a:pt x="485937" y="1749553"/>
                </a:cubicBezTo>
                <a:lnTo>
                  <a:pt x="58111" y="1749553"/>
                </a:lnTo>
                <a:close/>
                <a:moveTo>
                  <a:pt x="1029286" y="2008341"/>
                </a:moveTo>
                <a:cubicBezTo>
                  <a:pt x="1029286" y="2008875"/>
                  <a:pt x="1028835" y="2009326"/>
                  <a:pt x="1028301" y="2009326"/>
                </a:cubicBezTo>
                <a:lnTo>
                  <a:pt x="652553" y="2009326"/>
                </a:lnTo>
                <a:cubicBezTo>
                  <a:pt x="652020" y="2009326"/>
                  <a:pt x="651568" y="2008875"/>
                  <a:pt x="651568" y="2008341"/>
                </a:cubicBezTo>
                <a:lnTo>
                  <a:pt x="651568" y="1917195"/>
                </a:lnTo>
                <a:lnTo>
                  <a:pt x="1029286" y="1917195"/>
                </a:lnTo>
                <a:lnTo>
                  <a:pt x="1029286" y="2008341"/>
                </a:lnTo>
                <a:close/>
                <a:moveTo>
                  <a:pt x="1103320" y="1855145"/>
                </a:moveTo>
                <a:cubicBezTo>
                  <a:pt x="1101432" y="1859043"/>
                  <a:pt x="1098724" y="1862572"/>
                  <a:pt x="1095153" y="1865609"/>
                </a:cubicBezTo>
                <a:cubicBezTo>
                  <a:pt x="1087438" y="1872299"/>
                  <a:pt x="1076563" y="1876156"/>
                  <a:pt x="1065318" y="1876156"/>
                </a:cubicBezTo>
                <a:lnTo>
                  <a:pt x="1049806" y="1876156"/>
                </a:lnTo>
                <a:lnTo>
                  <a:pt x="631049" y="1876156"/>
                </a:lnTo>
                <a:lnTo>
                  <a:pt x="615536" y="1876156"/>
                </a:lnTo>
                <a:cubicBezTo>
                  <a:pt x="598834" y="1876156"/>
                  <a:pt x="583567" y="1867702"/>
                  <a:pt x="577494" y="1855145"/>
                </a:cubicBezTo>
                <a:cubicBezTo>
                  <a:pt x="562556" y="1824119"/>
                  <a:pt x="548603" y="1793094"/>
                  <a:pt x="535552" y="1762151"/>
                </a:cubicBezTo>
                <a:cubicBezTo>
                  <a:pt x="535511" y="1762110"/>
                  <a:pt x="535511" y="1762069"/>
                  <a:pt x="535470" y="1762028"/>
                </a:cubicBezTo>
                <a:cubicBezTo>
                  <a:pt x="446376" y="1550762"/>
                  <a:pt x="401233" y="1342123"/>
                  <a:pt x="401233" y="1140583"/>
                </a:cubicBezTo>
                <a:cubicBezTo>
                  <a:pt x="401233" y="1003719"/>
                  <a:pt x="422532" y="861562"/>
                  <a:pt x="464556" y="717968"/>
                </a:cubicBezTo>
                <a:cubicBezTo>
                  <a:pt x="498084" y="603389"/>
                  <a:pt x="544827" y="487619"/>
                  <a:pt x="603512" y="373820"/>
                </a:cubicBezTo>
                <a:cubicBezTo>
                  <a:pt x="703153" y="180692"/>
                  <a:pt x="802385" y="60655"/>
                  <a:pt x="806529" y="55648"/>
                </a:cubicBezTo>
                <a:cubicBezTo>
                  <a:pt x="814204" y="46497"/>
                  <a:pt x="826843" y="41038"/>
                  <a:pt x="840427" y="41038"/>
                </a:cubicBezTo>
                <a:cubicBezTo>
                  <a:pt x="854011" y="41038"/>
                  <a:pt x="866651" y="46497"/>
                  <a:pt x="874284" y="55689"/>
                </a:cubicBezTo>
                <a:cubicBezTo>
                  <a:pt x="875310" y="56879"/>
                  <a:pt x="976593" y="178558"/>
                  <a:pt x="1077342" y="373820"/>
                </a:cubicBezTo>
                <a:cubicBezTo>
                  <a:pt x="1136028" y="487619"/>
                  <a:pt x="1182770" y="603430"/>
                  <a:pt x="1216299" y="717968"/>
                </a:cubicBezTo>
                <a:cubicBezTo>
                  <a:pt x="1258322" y="861562"/>
                  <a:pt x="1279621" y="1003719"/>
                  <a:pt x="1279621" y="1140583"/>
                </a:cubicBezTo>
                <a:cubicBezTo>
                  <a:pt x="1279621" y="1371711"/>
                  <a:pt x="1220280" y="1612115"/>
                  <a:pt x="1103320" y="1855145"/>
                </a:cubicBezTo>
                <a:close/>
                <a:moveTo>
                  <a:pt x="1639816" y="1722385"/>
                </a:moveTo>
                <a:cubicBezTo>
                  <a:pt x="1639816" y="1738390"/>
                  <a:pt x="1630829" y="1749553"/>
                  <a:pt x="1622744" y="1749553"/>
                </a:cubicBezTo>
                <a:lnTo>
                  <a:pt x="1194877" y="1749553"/>
                </a:lnTo>
                <a:cubicBezTo>
                  <a:pt x="1208214" y="1716599"/>
                  <a:pt x="1220485" y="1683686"/>
                  <a:pt x="1231688" y="1650814"/>
                </a:cubicBezTo>
                <a:lnTo>
                  <a:pt x="1639816" y="1650814"/>
                </a:lnTo>
                <a:lnTo>
                  <a:pt x="1639816" y="1722385"/>
                </a:lnTo>
                <a:close/>
                <a:moveTo>
                  <a:pt x="840427" y="587179"/>
                </a:moveTo>
                <a:cubicBezTo>
                  <a:pt x="684563" y="587179"/>
                  <a:pt x="557713" y="713987"/>
                  <a:pt x="557713" y="869852"/>
                </a:cubicBezTo>
                <a:cubicBezTo>
                  <a:pt x="557713" y="1025757"/>
                  <a:pt x="684563" y="1152566"/>
                  <a:pt x="840427" y="1152566"/>
                </a:cubicBezTo>
                <a:cubicBezTo>
                  <a:pt x="996291" y="1152566"/>
                  <a:pt x="1123141" y="1025757"/>
                  <a:pt x="1123141" y="869852"/>
                </a:cubicBezTo>
                <a:cubicBezTo>
                  <a:pt x="1123141" y="713987"/>
                  <a:pt x="996291" y="587179"/>
                  <a:pt x="840427" y="587179"/>
                </a:cubicBezTo>
                <a:close/>
                <a:moveTo>
                  <a:pt x="840427" y="1111527"/>
                </a:moveTo>
                <a:cubicBezTo>
                  <a:pt x="707175" y="1111527"/>
                  <a:pt x="598752" y="1003104"/>
                  <a:pt x="598752" y="869852"/>
                </a:cubicBezTo>
                <a:cubicBezTo>
                  <a:pt x="598752" y="736600"/>
                  <a:pt x="707175" y="628217"/>
                  <a:pt x="840427" y="628217"/>
                </a:cubicBezTo>
                <a:cubicBezTo>
                  <a:pt x="973679" y="628217"/>
                  <a:pt x="1082103" y="736600"/>
                  <a:pt x="1082103" y="869852"/>
                </a:cubicBezTo>
                <a:cubicBezTo>
                  <a:pt x="1082103" y="1003104"/>
                  <a:pt x="973679" y="1111527"/>
                  <a:pt x="840427" y="1111527"/>
                </a:cubicBezTo>
                <a:close/>
                <a:moveTo>
                  <a:pt x="840427" y="1235997"/>
                </a:moveTo>
                <a:cubicBezTo>
                  <a:pt x="738898" y="1235997"/>
                  <a:pt x="656288" y="1318566"/>
                  <a:pt x="656288" y="1420096"/>
                </a:cubicBezTo>
                <a:cubicBezTo>
                  <a:pt x="656288" y="1521625"/>
                  <a:pt x="738898" y="1604235"/>
                  <a:pt x="840427" y="1604235"/>
                </a:cubicBezTo>
                <a:cubicBezTo>
                  <a:pt x="941956" y="1604235"/>
                  <a:pt x="1024567" y="1521625"/>
                  <a:pt x="1024567" y="1420096"/>
                </a:cubicBezTo>
                <a:cubicBezTo>
                  <a:pt x="1024567" y="1318566"/>
                  <a:pt x="941956" y="1235997"/>
                  <a:pt x="840427" y="1235997"/>
                </a:cubicBezTo>
                <a:close/>
                <a:moveTo>
                  <a:pt x="840427" y="1563197"/>
                </a:moveTo>
                <a:cubicBezTo>
                  <a:pt x="761510" y="1563197"/>
                  <a:pt x="697326" y="1499013"/>
                  <a:pt x="697326" y="1420096"/>
                </a:cubicBezTo>
                <a:cubicBezTo>
                  <a:pt x="697326" y="1341220"/>
                  <a:pt x="761510" y="1277035"/>
                  <a:pt x="840427" y="1277035"/>
                </a:cubicBezTo>
                <a:cubicBezTo>
                  <a:pt x="919344" y="1277035"/>
                  <a:pt x="983528" y="1341220"/>
                  <a:pt x="983528" y="1420096"/>
                </a:cubicBezTo>
                <a:cubicBezTo>
                  <a:pt x="983528" y="1499013"/>
                  <a:pt x="919344" y="1563197"/>
                  <a:pt x="840427" y="1563197"/>
                </a:cubicBez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 rot="4226047">
            <a:off x="8378308" y="3815305"/>
            <a:ext cx="1199083" cy="1476215"/>
          </a:xfrm>
          <a:custGeom>
            <a:avLst/>
            <a:gdLst/>
            <a:ahLst/>
            <a:cxnLst/>
            <a:rect l="l" t="t" r="r" b="b"/>
            <a:pathLst>
              <a:path w="1598777" h="1968287" extrusionOk="0">
                <a:moveTo>
                  <a:pt x="1598777" y="1609776"/>
                </a:moveTo>
                <a:lnTo>
                  <a:pt x="1598777" y="1681347"/>
                </a:lnTo>
                <a:cubicBezTo>
                  <a:pt x="1598777" y="1697352"/>
                  <a:pt x="1589790" y="1708514"/>
                  <a:pt x="1581706" y="1708514"/>
                </a:cubicBezTo>
                <a:lnTo>
                  <a:pt x="1153838" y="1708514"/>
                </a:lnTo>
                <a:cubicBezTo>
                  <a:pt x="1167176" y="1675560"/>
                  <a:pt x="1179446" y="1642647"/>
                  <a:pt x="1190650" y="1609776"/>
                </a:cubicBezTo>
                <a:lnTo>
                  <a:pt x="1598777" y="1609776"/>
                </a:lnTo>
                <a:close/>
                <a:moveTo>
                  <a:pt x="1204151" y="1568737"/>
                </a:moveTo>
                <a:lnTo>
                  <a:pt x="1596110" y="1568737"/>
                </a:lnTo>
                <a:cubicBezTo>
                  <a:pt x="1594222" y="1561678"/>
                  <a:pt x="1591391" y="1555030"/>
                  <a:pt x="1587656" y="1549285"/>
                </a:cubicBezTo>
                <a:lnTo>
                  <a:pt x="1279375" y="1073526"/>
                </a:lnTo>
                <a:cubicBezTo>
                  <a:pt x="1279539" y="1082226"/>
                  <a:pt x="1279621" y="1090885"/>
                  <a:pt x="1279621" y="1099544"/>
                </a:cubicBezTo>
                <a:cubicBezTo>
                  <a:pt x="1279621" y="1252782"/>
                  <a:pt x="1254259" y="1409795"/>
                  <a:pt x="1204151" y="1568737"/>
                </a:cubicBezTo>
                <a:close/>
                <a:moveTo>
                  <a:pt x="1238583" y="1099544"/>
                </a:moveTo>
                <a:cubicBezTo>
                  <a:pt x="1238583" y="1330673"/>
                  <a:pt x="1179241" y="1571076"/>
                  <a:pt x="1062281" y="1814106"/>
                </a:cubicBezTo>
                <a:cubicBezTo>
                  <a:pt x="1060394" y="1818005"/>
                  <a:pt x="1057685" y="1821534"/>
                  <a:pt x="1054115" y="1824571"/>
                </a:cubicBezTo>
                <a:cubicBezTo>
                  <a:pt x="1046399" y="1831260"/>
                  <a:pt x="1035524" y="1835118"/>
                  <a:pt x="1024280" y="1835118"/>
                </a:cubicBezTo>
                <a:lnTo>
                  <a:pt x="1008767" y="1835118"/>
                </a:lnTo>
                <a:lnTo>
                  <a:pt x="590010" y="1835118"/>
                </a:lnTo>
                <a:lnTo>
                  <a:pt x="574498" y="1835118"/>
                </a:lnTo>
                <a:cubicBezTo>
                  <a:pt x="557795" y="1835118"/>
                  <a:pt x="542529" y="1826664"/>
                  <a:pt x="536455" y="1814106"/>
                </a:cubicBezTo>
                <a:cubicBezTo>
                  <a:pt x="521517" y="1783081"/>
                  <a:pt x="507564" y="1752056"/>
                  <a:pt x="494514" y="1721113"/>
                </a:cubicBezTo>
                <a:cubicBezTo>
                  <a:pt x="494473" y="1721072"/>
                  <a:pt x="494473" y="1721031"/>
                  <a:pt x="494432" y="1720990"/>
                </a:cubicBezTo>
                <a:cubicBezTo>
                  <a:pt x="405337" y="1509724"/>
                  <a:pt x="360195" y="1301084"/>
                  <a:pt x="360195" y="1099544"/>
                </a:cubicBezTo>
                <a:cubicBezTo>
                  <a:pt x="360195" y="962681"/>
                  <a:pt x="381494" y="820523"/>
                  <a:pt x="423517" y="676930"/>
                </a:cubicBezTo>
                <a:cubicBezTo>
                  <a:pt x="457046" y="562350"/>
                  <a:pt x="503788" y="446581"/>
                  <a:pt x="562474" y="332781"/>
                </a:cubicBezTo>
                <a:cubicBezTo>
                  <a:pt x="662115" y="139654"/>
                  <a:pt x="761346" y="19616"/>
                  <a:pt x="765491" y="14610"/>
                </a:cubicBezTo>
                <a:cubicBezTo>
                  <a:pt x="773165" y="5458"/>
                  <a:pt x="785805" y="0"/>
                  <a:pt x="799389" y="0"/>
                </a:cubicBezTo>
                <a:cubicBezTo>
                  <a:pt x="812972" y="0"/>
                  <a:pt x="825612" y="5458"/>
                  <a:pt x="833245" y="14651"/>
                </a:cubicBezTo>
                <a:cubicBezTo>
                  <a:pt x="834271" y="15841"/>
                  <a:pt x="935554" y="137520"/>
                  <a:pt x="1036304" y="332781"/>
                </a:cubicBezTo>
                <a:cubicBezTo>
                  <a:pt x="1094989" y="446581"/>
                  <a:pt x="1141732" y="562391"/>
                  <a:pt x="1175260" y="676930"/>
                </a:cubicBezTo>
                <a:cubicBezTo>
                  <a:pt x="1217284" y="820523"/>
                  <a:pt x="1238583" y="962681"/>
                  <a:pt x="1238583" y="1099544"/>
                </a:cubicBezTo>
                <a:close/>
                <a:moveTo>
                  <a:pt x="983528" y="1379057"/>
                </a:moveTo>
                <a:cubicBezTo>
                  <a:pt x="983528" y="1277528"/>
                  <a:pt x="900918" y="1194958"/>
                  <a:pt x="799389" y="1194958"/>
                </a:cubicBezTo>
                <a:cubicBezTo>
                  <a:pt x="697860" y="1194958"/>
                  <a:pt x="615249" y="1277528"/>
                  <a:pt x="615249" y="1379057"/>
                </a:cubicBezTo>
                <a:cubicBezTo>
                  <a:pt x="615249" y="1480586"/>
                  <a:pt x="697860" y="1563197"/>
                  <a:pt x="799389" y="1563197"/>
                </a:cubicBezTo>
                <a:cubicBezTo>
                  <a:pt x="900918" y="1563197"/>
                  <a:pt x="983528" y="1480586"/>
                  <a:pt x="983528" y="1379057"/>
                </a:cubicBezTo>
                <a:close/>
                <a:moveTo>
                  <a:pt x="1082103" y="828813"/>
                </a:moveTo>
                <a:cubicBezTo>
                  <a:pt x="1082103" y="672949"/>
                  <a:pt x="955253" y="546140"/>
                  <a:pt x="799389" y="546140"/>
                </a:cubicBezTo>
                <a:cubicBezTo>
                  <a:pt x="643525" y="546140"/>
                  <a:pt x="516675" y="672949"/>
                  <a:pt x="516675" y="828813"/>
                </a:cubicBezTo>
                <a:cubicBezTo>
                  <a:pt x="516675" y="984718"/>
                  <a:pt x="643525" y="1111527"/>
                  <a:pt x="799389" y="1111527"/>
                </a:cubicBezTo>
                <a:cubicBezTo>
                  <a:pt x="955253" y="1111527"/>
                  <a:pt x="1082103" y="984718"/>
                  <a:pt x="1082103" y="828813"/>
                </a:cubicBezTo>
                <a:close/>
                <a:moveTo>
                  <a:pt x="610530" y="1967303"/>
                </a:moveTo>
                <a:cubicBezTo>
                  <a:pt x="610530" y="1967836"/>
                  <a:pt x="610981" y="1968288"/>
                  <a:pt x="611515" y="1968288"/>
                </a:cubicBezTo>
                <a:lnTo>
                  <a:pt x="987263" y="1968288"/>
                </a:lnTo>
                <a:cubicBezTo>
                  <a:pt x="987796" y="1968288"/>
                  <a:pt x="988248" y="1967836"/>
                  <a:pt x="988248" y="1967303"/>
                </a:cubicBezTo>
                <a:lnTo>
                  <a:pt x="988248" y="1876156"/>
                </a:lnTo>
                <a:lnTo>
                  <a:pt x="610530" y="1876156"/>
                </a:lnTo>
                <a:lnTo>
                  <a:pt x="610530" y="1967303"/>
                </a:lnTo>
                <a:close/>
                <a:moveTo>
                  <a:pt x="799389" y="587179"/>
                </a:moveTo>
                <a:cubicBezTo>
                  <a:pt x="666137" y="587179"/>
                  <a:pt x="557713" y="695561"/>
                  <a:pt x="557713" y="828813"/>
                </a:cubicBezTo>
                <a:cubicBezTo>
                  <a:pt x="557713" y="962065"/>
                  <a:pt x="666137" y="1070489"/>
                  <a:pt x="799389" y="1070489"/>
                </a:cubicBezTo>
                <a:cubicBezTo>
                  <a:pt x="932641" y="1070489"/>
                  <a:pt x="1041064" y="962065"/>
                  <a:pt x="1041064" y="828813"/>
                </a:cubicBezTo>
                <a:cubicBezTo>
                  <a:pt x="1041064" y="695561"/>
                  <a:pt x="932641" y="587179"/>
                  <a:pt x="799389" y="587179"/>
                </a:cubicBezTo>
                <a:close/>
                <a:moveTo>
                  <a:pt x="799389" y="1235997"/>
                </a:moveTo>
                <a:cubicBezTo>
                  <a:pt x="720472" y="1235997"/>
                  <a:pt x="656288" y="1300181"/>
                  <a:pt x="656288" y="1379057"/>
                </a:cubicBezTo>
                <a:cubicBezTo>
                  <a:pt x="656288" y="1457974"/>
                  <a:pt x="720472" y="1522158"/>
                  <a:pt x="799389" y="1522158"/>
                </a:cubicBezTo>
                <a:cubicBezTo>
                  <a:pt x="878306" y="1522158"/>
                  <a:pt x="942490" y="1457974"/>
                  <a:pt x="942490" y="1379057"/>
                </a:cubicBezTo>
                <a:cubicBezTo>
                  <a:pt x="942490" y="1300181"/>
                  <a:pt x="878306" y="1235997"/>
                  <a:pt x="799389" y="1235997"/>
                </a:cubicBezTo>
                <a:close/>
                <a:moveTo>
                  <a:pt x="0" y="1609776"/>
                </a:moveTo>
                <a:lnTo>
                  <a:pt x="0" y="1681347"/>
                </a:lnTo>
                <a:cubicBezTo>
                  <a:pt x="0" y="1697352"/>
                  <a:pt x="8987" y="1708514"/>
                  <a:pt x="17072" y="1708514"/>
                </a:cubicBezTo>
                <a:lnTo>
                  <a:pt x="444898" y="1708514"/>
                </a:lnTo>
                <a:cubicBezTo>
                  <a:pt x="431602" y="1675560"/>
                  <a:pt x="419331" y="1642647"/>
                  <a:pt x="408128" y="1609776"/>
                </a:cubicBezTo>
                <a:lnTo>
                  <a:pt x="0" y="1609776"/>
                </a:lnTo>
                <a:close/>
                <a:moveTo>
                  <a:pt x="319156" y="1099544"/>
                </a:moveTo>
                <a:cubicBezTo>
                  <a:pt x="319156" y="1090885"/>
                  <a:pt x="319238" y="1082226"/>
                  <a:pt x="319403" y="1073526"/>
                </a:cubicBezTo>
                <a:lnTo>
                  <a:pt x="11162" y="1549285"/>
                </a:lnTo>
                <a:cubicBezTo>
                  <a:pt x="7428" y="1555030"/>
                  <a:pt x="4555" y="1561678"/>
                  <a:pt x="2668" y="1568737"/>
                </a:cubicBezTo>
                <a:lnTo>
                  <a:pt x="394626" y="1568737"/>
                </a:lnTo>
                <a:cubicBezTo>
                  <a:pt x="344477" y="1409795"/>
                  <a:pt x="319156" y="1252782"/>
                  <a:pt x="319156" y="109954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1028700" y="1019175"/>
            <a:ext cx="1320898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u="none" dirty="0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Objectives</a:t>
            </a:r>
            <a:endParaRPr dirty="0"/>
          </a:p>
        </p:txBody>
      </p:sp>
      <p:sp>
        <p:nvSpPr>
          <p:cNvPr id="196" name="Google Shape;196;p16"/>
          <p:cNvSpPr/>
          <p:nvPr/>
        </p:nvSpPr>
        <p:spPr>
          <a:xfrm>
            <a:off x="14356657" y="3889498"/>
            <a:ext cx="1121089" cy="1540147"/>
          </a:xfrm>
          <a:custGeom>
            <a:avLst/>
            <a:gdLst/>
            <a:ahLst/>
            <a:cxnLst/>
            <a:rect l="l" t="t" r="r" b="b"/>
            <a:pathLst>
              <a:path w="1494784" h="2053529" extrusionOk="0">
                <a:moveTo>
                  <a:pt x="1462692" y="81158"/>
                </a:moveTo>
                <a:cubicBezTo>
                  <a:pt x="1243832" y="-8675"/>
                  <a:pt x="1024151" y="40702"/>
                  <a:pt x="811702" y="88435"/>
                </a:cubicBezTo>
                <a:cubicBezTo>
                  <a:pt x="593788" y="137401"/>
                  <a:pt x="387668" y="183612"/>
                  <a:pt x="178753" y="94931"/>
                </a:cubicBezTo>
                <a:lnTo>
                  <a:pt x="178753" y="74045"/>
                </a:lnTo>
                <a:cubicBezTo>
                  <a:pt x="178753" y="33220"/>
                  <a:pt x="145550" y="0"/>
                  <a:pt x="104704" y="0"/>
                </a:cubicBezTo>
                <a:lnTo>
                  <a:pt x="74008" y="0"/>
                </a:lnTo>
                <a:cubicBezTo>
                  <a:pt x="33203" y="0"/>
                  <a:pt x="0" y="33220"/>
                  <a:pt x="0" y="74045"/>
                </a:cubicBezTo>
                <a:lnTo>
                  <a:pt x="0" y="1979484"/>
                </a:lnTo>
                <a:cubicBezTo>
                  <a:pt x="0" y="2020310"/>
                  <a:pt x="33203" y="2053530"/>
                  <a:pt x="74008" y="2053530"/>
                </a:cubicBezTo>
                <a:lnTo>
                  <a:pt x="104704" y="2053530"/>
                </a:lnTo>
                <a:cubicBezTo>
                  <a:pt x="145509" y="2053530"/>
                  <a:pt x="178712" y="2020310"/>
                  <a:pt x="178712" y="1979484"/>
                </a:cubicBezTo>
                <a:lnTo>
                  <a:pt x="178712" y="960860"/>
                </a:lnTo>
                <a:cubicBezTo>
                  <a:pt x="264636" y="994614"/>
                  <a:pt x="350643" y="1007318"/>
                  <a:pt x="436280" y="1007318"/>
                </a:cubicBezTo>
                <a:cubicBezTo>
                  <a:pt x="565845" y="1007318"/>
                  <a:pt x="694506" y="978415"/>
                  <a:pt x="820702" y="950047"/>
                </a:cubicBezTo>
                <a:cubicBezTo>
                  <a:pt x="1029041" y="903219"/>
                  <a:pt x="1225834" y="859022"/>
                  <a:pt x="1425667" y="932369"/>
                </a:cubicBezTo>
                <a:cubicBezTo>
                  <a:pt x="1441323" y="938124"/>
                  <a:pt x="1458870" y="935822"/>
                  <a:pt x="1472636" y="926243"/>
                </a:cubicBezTo>
                <a:cubicBezTo>
                  <a:pt x="1486525" y="916540"/>
                  <a:pt x="1494785" y="900670"/>
                  <a:pt x="1494785" y="883773"/>
                </a:cubicBezTo>
                <a:lnTo>
                  <a:pt x="1494785" y="129014"/>
                </a:lnTo>
                <a:cubicBezTo>
                  <a:pt x="1494785" y="107923"/>
                  <a:pt x="1482211" y="89134"/>
                  <a:pt x="1462692" y="81158"/>
                </a:cubicBezTo>
                <a:close/>
                <a:moveTo>
                  <a:pt x="137660" y="1979526"/>
                </a:moveTo>
                <a:cubicBezTo>
                  <a:pt x="137660" y="1997698"/>
                  <a:pt x="122908" y="2012457"/>
                  <a:pt x="104745" y="2012457"/>
                </a:cubicBezTo>
                <a:lnTo>
                  <a:pt x="74049" y="2012457"/>
                </a:lnTo>
                <a:cubicBezTo>
                  <a:pt x="55886" y="2012457"/>
                  <a:pt x="41134" y="1997698"/>
                  <a:pt x="41134" y="1979526"/>
                </a:cubicBezTo>
                <a:lnTo>
                  <a:pt x="41134" y="74045"/>
                </a:lnTo>
                <a:cubicBezTo>
                  <a:pt x="41134" y="55873"/>
                  <a:pt x="55886" y="41113"/>
                  <a:pt x="74049" y="41113"/>
                </a:cubicBezTo>
                <a:lnTo>
                  <a:pt x="104745" y="41113"/>
                </a:lnTo>
                <a:cubicBezTo>
                  <a:pt x="122908" y="41113"/>
                  <a:pt x="137660" y="55873"/>
                  <a:pt x="137660" y="74045"/>
                </a:cubicBezTo>
                <a:lnTo>
                  <a:pt x="137660" y="108457"/>
                </a:lnTo>
                <a:lnTo>
                  <a:pt x="137660" y="929984"/>
                </a:lnTo>
                <a:lnTo>
                  <a:pt x="137660" y="1979526"/>
                </a:lnTo>
                <a:close/>
                <a:moveTo>
                  <a:pt x="1453692" y="883773"/>
                </a:moveTo>
                <a:cubicBezTo>
                  <a:pt x="1453692" y="888788"/>
                  <a:pt x="1450487" y="891584"/>
                  <a:pt x="1449090" y="892530"/>
                </a:cubicBezTo>
                <a:cubicBezTo>
                  <a:pt x="1447446" y="893681"/>
                  <a:pt x="1444077" y="895325"/>
                  <a:pt x="1439803" y="893804"/>
                </a:cubicBezTo>
                <a:cubicBezTo>
                  <a:pt x="1228587" y="816264"/>
                  <a:pt x="1016631" y="863915"/>
                  <a:pt x="811661" y="909962"/>
                </a:cubicBezTo>
                <a:cubicBezTo>
                  <a:pt x="593788" y="958928"/>
                  <a:pt x="387668" y="1005221"/>
                  <a:pt x="178753" y="916540"/>
                </a:cubicBezTo>
                <a:lnTo>
                  <a:pt x="178753" y="139415"/>
                </a:lnTo>
                <a:cubicBezTo>
                  <a:pt x="264719" y="173169"/>
                  <a:pt x="350684" y="185791"/>
                  <a:pt x="436321" y="185791"/>
                </a:cubicBezTo>
                <a:cubicBezTo>
                  <a:pt x="565886" y="185791"/>
                  <a:pt x="694547" y="156889"/>
                  <a:pt x="820743" y="128520"/>
                </a:cubicBezTo>
                <a:cubicBezTo>
                  <a:pt x="1036479" y="80048"/>
                  <a:pt x="1240216" y="34247"/>
                  <a:pt x="1447117" y="119146"/>
                </a:cubicBezTo>
                <a:cubicBezTo>
                  <a:pt x="1451145" y="120791"/>
                  <a:pt x="1453733" y="124656"/>
                  <a:pt x="1453733" y="128973"/>
                </a:cubicBezTo>
                <a:lnTo>
                  <a:pt x="1453733" y="883773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1952809" y="6411283"/>
            <a:ext cx="35079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dirty="0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Develop Adaptive Framework</a:t>
            </a:r>
            <a:endParaRPr sz="1100" dirty="0"/>
          </a:p>
        </p:txBody>
      </p:sp>
      <p:sp>
        <p:nvSpPr>
          <p:cNvPr id="198" name="Google Shape;198;p16"/>
          <p:cNvSpPr txBox="1"/>
          <p:nvPr/>
        </p:nvSpPr>
        <p:spPr>
          <a:xfrm>
            <a:off x="1952808" y="7653363"/>
            <a:ext cx="3072877" cy="192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u="none" dirty="0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Create a DL framework using dual-space prototypical networks to adapt to evolving DDoS attack patterns</a:t>
            </a:r>
            <a:endParaRPr lang="en-US" dirty="0"/>
          </a:p>
        </p:txBody>
      </p:sp>
      <p:sp>
        <p:nvSpPr>
          <p:cNvPr id="199" name="Google Shape;199;p16"/>
          <p:cNvSpPr/>
          <p:nvPr/>
        </p:nvSpPr>
        <p:spPr>
          <a:xfrm>
            <a:off x="1922687" y="7453013"/>
            <a:ext cx="3072878" cy="146975"/>
          </a:xfrm>
          <a:custGeom>
            <a:avLst/>
            <a:gdLst/>
            <a:ahLst/>
            <a:cxnLst/>
            <a:rect l="l" t="t" r="r" b="b"/>
            <a:pathLst>
              <a:path w="809318" h="38710" extrusionOk="0">
                <a:moveTo>
                  <a:pt x="0" y="0"/>
                </a:moveTo>
                <a:lnTo>
                  <a:pt x="809318" y="0"/>
                </a:lnTo>
                <a:lnTo>
                  <a:pt x="809318" y="38710"/>
                </a:lnTo>
                <a:lnTo>
                  <a:pt x="0" y="38710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Google Shape;200;p16"/>
          <p:cNvSpPr txBox="1"/>
          <p:nvPr/>
        </p:nvSpPr>
        <p:spPr>
          <a:xfrm>
            <a:off x="7677964" y="6411283"/>
            <a:ext cx="35079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Enhance Detection Accuracy</a:t>
            </a:r>
            <a:endParaRPr sz="2800" dirty="0"/>
          </a:p>
        </p:txBody>
      </p:sp>
      <p:sp>
        <p:nvSpPr>
          <p:cNvPr id="201" name="Google Shape;201;p16"/>
          <p:cNvSpPr txBox="1"/>
          <p:nvPr/>
        </p:nvSpPr>
        <p:spPr>
          <a:xfrm>
            <a:off x="7677963" y="7653363"/>
            <a:ext cx="3170955" cy="192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u="none" dirty="0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Improve detection accuracy by leveraging geometric and angular similarity measures in a dual-space framework</a:t>
            </a:r>
            <a:endParaRPr dirty="0"/>
          </a:p>
        </p:txBody>
      </p:sp>
      <p:sp>
        <p:nvSpPr>
          <p:cNvPr id="202" name="Google Shape;202;p16"/>
          <p:cNvSpPr txBox="1"/>
          <p:nvPr/>
        </p:nvSpPr>
        <p:spPr>
          <a:xfrm>
            <a:off x="13403119" y="6411283"/>
            <a:ext cx="35079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Comprehensive Evaluation</a:t>
            </a:r>
            <a:endParaRPr sz="2800" dirty="0"/>
          </a:p>
        </p:txBody>
      </p:sp>
      <p:sp>
        <p:nvSpPr>
          <p:cNvPr id="203" name="Google Shape;203;p16"/>
          <p:cNvSpPr txBox="1"/>
          <p:nvPr/>
        </p:nvSpPr>
        <p:spPr>
          <a:xfrm>
            <a:off x="13403118" y="7653363"/>
            <a:ext cx="3925867" cy="230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u="none" dirty="0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Evaluate the model under various data conditions, including scenarios with limited labeled data, to validate robustness and adaptability</a:t>
            </a:r>
            <a:endParaRPr dirty="0"/>
          </a:p>
        </p:txBody>
      </p:sp>
      <p:sp>
        <p:nvSpPr>
          <p:cNvPr id="204" name="Google Shape;204;p16"/>
          <p:cNvSpPr/>
          <p:nvPr/>
        </p:nvSpPr>
        <p:spPr>
          <a:xfrm>
            <a:off x="13372997" y="7430713"/>
            <a:ext cx="3072878" cy="146975"/>
          </a:xfrm>
          <a:custGeom>
            <a:avLst/>
            <a:gdLst/>
            <a:ahLst/>
            <a:cxnLst/>
            <a:rect l="l" t="t" r="r" b="b"/>
            <a:pathLst>
              <a:path w="809318" h="38710" extrusionOk="0">
                <a:moveTo>
                  <a:pt x="0" y="0"/>
                </a:moveTo>
                <a:lnTo>
                  <a:pt x="809318" y="0"/>
                </a:lnTo>
                <a:lnTo>
                  <a:pt x="809318" y="38710"/>
                </a:lnTo>
                <a:lnTo>
                  <a:pt x="0" y="38710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Google Shape;205;p16"/>
          <p:cNvSpPr/>
          <p:nvPr/>
        </p:nvSpPr>
        <p:spPr>
          <a:xfrm>
            <a:off x="7647842" y="7453014"/>
            <a:ext cx="3072900" cy="146974"/>
          </a:xfrm>
          <a:custGeom>
            <a:avLst/>
            <a:gdLst/>
            <a:ahLst/>
            <a:cxnLst/>
            <a:rect l="l" t="t" r="r" b="b"/>
            <a:pathLst>
              <a:path w="809318" h="38710" extrusionOk="0">
                <a:moveTo>
                  <a:pt x="0" y="0"/>
                </a:moveTo>
                <a:lnTo>
                  <a:pt x="809318" y="0"/>
                </a:lnTo>
                <a:lnTo>
                  <a:pt x="809318" y="38710"/>
                </a:lnTo>
                <a:lnTo>
                  <a:pt x="0" y="38710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CBDF89B-671E-5A4F-86CB-960475F00A3B}"/>
              </a:ext>
            </a:extLst>
          </p:cNvPr>
          <p:cNvGrpSpPr/>
          <p:nvPr/>
        </p:nvGrpSpPr>
        <p:grpSpPr>
          <a:xfrm>
            <a:off x="2530153" y="3642746"/>
            <a:ext cx="2052063" cy="1944205"/>
            <a:chOff x="2566365" y="3633693"/>
            <a:chExt cx="2052063" cy="1944205"/>
          </a:xfrm>
        </p:grpSpPr>
        <p:sp>
          <p:nvSpPr>
            <p:cNvPr id="3" name="Google Shape;589;p30">
              <a:extLst>
                <a:ext uri="{FF2B5EF4-FFF2-40B4-BE49-F238E27FC236}">
                  <a16:creationId xmlns:a16="http://schemas.microsoft.com/office/drawing/2014/main" id="{2D0AA235-9FAA-3240-BBA6-5B0F98EFC90D}"/>
                </a:ext>
              </a:extLst>
            </p:cNvPr>
            <p:cNvSpPr/>
            <p:nvPr/>
          </p:nvSpPr>
          <p:spPr>
            <a:xfrm>
              <a:off x="2566366" y="3636009"/>
              <a:ext cx="703338" cy="814369"/>
            </a:xfrm>
            <a:custGeom>
              <a:avLst/>
              <a:gdLst/>
              <a:ahLst/>
              <a:cxnLst/>
              <a:rect l="l" t="t" r="r" b="b"/>
              <a:pathLst>
                <a:path w="703338" h="814369" extrusionOk="0">
                  <a:moveTo>
                    <a:pt x="577836" y="563321"/>
                  </a:moveTo>
                  <a:cubicBezTo>
                    <a:pt x="514105" y="563321"/>
                    <a:pt x="461358" y="611079"/>
                    <a:pt x="453410" y="672694"/>
                  </a:cubicBezTo>
                  <a:lnTo>
                    <a:pt x="222119" y="487195"/>
                  </a:lnTo>
                  <a:cubicBezTo>
                    <a:pt x="240153" y="465454"/>
                    <a:pt x="251006" y="437560"/>
                    <a:pt x="251006" y="407185"/>
                  </a:cubicBezTo>
                  <a:cubicBezTo>
                    <a:pt x="251006" y="376793"/>
                    <a:pt x="240153" y="348915"/>
                    <a:pt x="222119" y="327174"/>
                  </a:cubicBezTo>
                  <a:lnTo>
                    <a:pt x="453410" y="141659"/>
                  </a:lnTo>
                  <a:cubicBezTo>
                    <a:pt x="461358" y="203258"/>
                    <a:pt x="514105" y="251032"/>
                    <a:pt x="577836" y="251032"/>
                  </a:cubicBezTo>
                  <a:cubicBezTo>
                    <a:pt x="647034" y="251032"/>
                    <a:pt x="703339" y="194721"/>
                    <a:pt x="703339" y="125516"/>
                  </a:cubicBezTo>
                  <a:cubicBezTo>
                    <a:pt x="703339" y="56311"/>
                    <a:pt x="647050" y="0"/>
                    <a:pt x="577836" y="0"/>
                  </a:cubicBezTo>
                  <a:cubicBezTo>
                    <a:pt x="509976" y="0"/>
                    <a:pt x="454552" y="54156"/>
                    <a:pt x="452431" y="121517"/>
                  </a:cubicBezTo>
                  <a:lnTo>
                    <a:pt x="210858" y="315275"/>
                  </a:lnTo>
                  <a:cubicBezTo>
                    <a:pt x="188450" y="294432"/>
                    <a:pt x="158437" y="281669"/>
                    <a:pt x="125503" y="281669"/>
                  </a:cubicBezTo>
                  <a:cubicBezTo>
                    <a:pt x="56305" y="281669"/>
                    <a:pt x="0" y="337979"/>
                    <a:pt x="0" y="407185"/>
                  </a:cubicBezTo>
                  <a:cubicBezTo>
                    <a:pt x="0" y="476390"/>
                    <a:pt x="56305" y="532701"/>
                    <a:pt x="125503" y="532701"/>
                  </a:cubicBezTo>
                  <a:cubicBezTo>
                    <a:pt x="158437" y="532701"/>
                    <a:pt x="188450" y="519921"/>
                    <a:pt x="210858" y="499094"/>
                  </a:cubicBezTo>
                  <a:lnTo>
                    <a:pt x="452431" y="692852"/>
                  </a:lnTo>
                  <a:cubicBezTo>
                    <a:pt x="454552" y="760213"/>
                    <a:pt x="509976" y="814369"/>
                    <a:pt x="577836" y="814369"/>
                  </a:cubicBezTo>
                  <a:cubicBezTo>
                    <a:pt x="647034" y="814369"/>
                    <a:pt x="703339" y="758058"/>
                    <a:pt x="703339" y="688853"/>
                  </a:cubicBezTo>
                  <a:cubicBezTo>
                    <a:pt x="703339" y="619648"/>
                    <a:pt x="647050" y="563321"/>
                    <a:pt x="577836" y="563321"/>
                  </a:cubicBezTo>
                  <a:close/>
                  <a:moveTo>
                    <a:pt x="577836" y="16322"/>
                  </a:moveTo>
                  <a:cubicBezTo>
                    <a:pt x="638041" y="16322"/>
                    <a:pt x="687018" y="65304"/>
                    <a:pt x="687018" y="125516"/>
                  </a:cubicBezTo>
                  <a:cubicBezTo>
                    <a:pt x="687018" y="185728"/>
                    <a:pt x="638041" y="234710"/>
                    <a:pt x="577836" y="234710"/>
                  </a:cubicBezTo>
                  <a:cubicBezTo>
                    <a:pt x="517630" y="234710"/>
                    <a:pt x="468653" y="185728"/>
                    <a:pt x="468653" y="125516"/>
                  </a:cubicBezTo>
                  <a:cubicBezTo>
                    <a:pt x="468653" y="65304"/>
                    <a:pt x="517630" y="16322"/>
                    <a:pt x="577836" y="16322"/>
                  </a:cubicBezTo>
                  <a:close/>
                  <a:moveTo>
                    <a:pt x="16320" y="407168"/>
                  </a:moveTo>
                  <a:cubicBezTo>
                    <a:pt x="16320" y="346956"/>
                    <a:pt x="65297" y="297974"/>
                    <a:pt x="125503" y="297974"/>
                  </a:cubicBezTo>
                  <a:cubicBezTo>
                    <a:pt x="185708" y="297974"/>
                    <a:pt x="234686" y="346956"/>
                    <a:pt x="234686" y="407168"/>
                  </a:cubicBezTo>
                  <a:cubicBezTo>
                    <a:pt x="234686" y="467380"/>
                    <a:pt x="185708" y="516362"/>
                    <a:pt x="125503" y="516362"/>
                  </a:cubicBezTo>
                  <a:cubicBezTo>
                    <a:pt x="65297" y="516362"/>
                    <a:pt x="16320" y="467380"/>
                    <a:pt x="16320" y="407168"/>
                  </a:cubicBezTo>
                  <a:close/>
                  <a:moveTo>
                    <a:pt x="577836" y="798031"/>
                  </a:moveTo>
                  <a:cubicBezTo>
                    <a:pt x="517630" y="798031"/>
                    <a:pt x="468653" y="749049"/>
                    <a:pt x="468653" y="688837"/>
                  </a:cubicBezTo>
                  <a:cubicBezTo>
                    <a:pt x="468653" y="628625"/>
                    <a:pt x="517630" y="579643"/>
                    <a:pt x="577836" y="579643"/>
                  </a:cubicBezTo>
                  <a:cubicBezTo>
                    <a:pt x="638041" y="579643"/>
                    <a:pt x="687018" y="628625"/>
                    <a:pt x="687018" y="688837"/>
                  </a:cubicBezTo>
                  <a:cubicBezTo>
                    <a:pt x="687018" y="749049"/>
                    <a:pt x="638041" y="798031"/>
                    <a:pt x="577836" y="798031"/>
                  </a:cubicBez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589;p30">
              <a:extLst>
                <a:ext uri="{FF2B5EF4-FFF2-40B4-BE49-F238E27FC236}">
                  <a16:creationId xmlns:a16="http://schemas.microsoft.com/office/drawing/2014/main" id="{DD5684B9-C0C2-728A-821B-73B14998A566}"/>
                </a:ext>
              </a:extLst>
            </p:cNvPr>
            <p:cNvSpPr/>
            <p:nvPr/>
          </p:nvSpPr>
          <p:spPr>
            <a:xfrm>
              <a:off x="2566365" y="4197791"/>
              <a:ext cx="703338" cy="814369"/>
            </a:xfrm>
            <a:custGeom>
              <a:avLst/>
              <a:gdLst/>
              <a:ahLst/>
              <a:cxnLst/>
              <a:rect l="l" t="t" r="r" b="b"/>
              <a:pathLst>
                <a:path w="703338" h="814369" extrusionOk="0">
                  <a:moveTo>
                    <a:pt x="577836" y="563321"/>
                  </a:moveTo>
                  <a:cubicBezTo>
                    <a:pt x="514105" y="563321"/>
                    <a:pt x="461358" y="611079"/>
                    <a:pt x="453410" y="672694"/>
                  </a:cubicBezTo>
                  <a:lnTo>
                    <a:pt x="222119" y="487195"/>
                  </a:lnTo>
                  <a:cubicBezTo>
                    <a:pt x="240153" y="465454"/>
                    <a:pt x="251006" y="437560"/>
                    <a:pt x="251006" y="407185"/>
                  </a:cubicBezTo>
                  <a:cubicBezTo>
                    <a:pt x="251006" y="376793"/>
                    <a:pt x="240153" y="348915"/>
                    <a:pt x="222119" y="327174"/>
                  </a:cubicBezTo>
                  <a:lnTo>
                    <a:pt x="453410" y="141659"/>
                  </a:lnTo>
                  <a:cubicBezTo>
                    <a:pt x="461358" y="203258"/>
                    <a:pt x="514105" y="251032"/>
                    <a:pt x="577836" y="251032"/>
                  </a:cubicBezTo>
                  <a:cubicBezTo>
                    <a:pt x="647034" y="251032"/>
                    <a:pt x="703339" y="194721"/>
                    <a:pt x="703339" y="125516"/>
                  </a:cubicBezTo>
                  <a:cubicBezTo>
                    <a:pt x="703339" y="56311"/>
                    <a:pt x="647050" y="0"/>
                    <a:pt x="577836" y="0"/>
                  </a:cubicBezTo>
                  <a:cubicBezTo>
                    <a:pt x="509976" y="0"/>
                    <a:pt x="454552" y="54156"/>
                    <a:pt x="452431" y="121517"/>
                  </a:cubicBezTo>
                  <a:lnTo>
                    <a:pt x="210858" y="315275"/>
                  </a:lnTo>
                  <a:cubicBezTo>
                    <a:pt x="188450" y="294432"/>
                    <a:pt x="158437" y="281669"/>
                    <a:pt x="125503" y="281669"/>
                  </a:cubicBezTo>
                  <a:cubicBezTo>
                    <a:pt x="56305" y="281669"/>
                    <a:pt x="0" y="337979"/>
                    <a:pt x="0" y="407185"/>
                  </a:cubicBezTo>
                  <a:cubicBezTo>
                    <a:pt x="0" y="476390"/>
                    <a:pt x="56305" y="532701"/>
                    <a:pt x="125503" y="532701"/>
                  </a:cubicBezTo>
                  <a:cubicBezTo>
                    <a:pt x="158437" y="532701"/>
                    <a:pt x="188450" y="519921"/>
                    <a:pt x="210858" y="499094"/>
                  </a:cubicBezTo>
                  <a:lnTo>
                    <a:pt x="452431" y="692852"/>
                  </a:lnTo>
                  <a:cubicBezTo>
                    <a:pt x="454552" y="760213"/>
                    <a:pt x="509976" y="814369"/>
                    <a:pt x="577836" y="814369"/>
                  </a:cubicBezTo>
                  <a:cubicBezTo>
                    <a:pt x="647034" y="814369"/>
                    <a:pt x="703339" y="758058"/>
                    <a:pt x="703339" y="688853"/>
                  </a:cubicBezTo>
                  <a:cubicBezTo>
                    <a:pt x="703339" y="619648"/>
                    <a:pt x="647050" y="563321"/>
                    <a:pt x="577836" y="563321"/>
                  </a:cubicBezTo>
                  <a:close/>
                  <a:moveTo>
                    <a:pt x="577836" y="16322"/>
                  </a:moveTo>
                  <a:cubicBezTo>
                    <a:pt x="638041" y="16322"/>
                    <a:pt x="687018" y="65304"/>
                    <a:pt x="687018" y="125516"/>
                  </a:cubicBezTo>
                  <a:cubicBezTo>
                    <a:pt x="687018" y="185728"/>
                    <a:pt x="638041" y="234710"/>
                    <a:pt x="577836" y="234710"/>
                  </a:cubicBezTo>
                  <a:cubicBezTo>
                    <a:pt x="517630" y="234710"/>
                    <a:pt x="468653" y="185728"/>
                    <a:pt x="468653" y="125516"/>
                  </a:cubicBezTo>
                  <a:cubicBezTo>
                    <a:pt x="468653" y="65304"/>
                    <a:pt x="517630" y="16322"/>
                    <a:pt x="577836" y="16322"/>
                  </a:cubicBezTo>
                  <a:close/>
                  <a:moveTo>
                    <a:pt x="16320" y="407168"/>
                  </a:moveTo>
                  <a:cubicBezTo>
                    <a:pt x="16320" y="346956"/>
                    <a:pt x="65297" y="297974"/>
                    <a:pt x="125503" y="297974"/>
                  </a:cubicBezTo>
                  <a:cubicBezTo>
                    <a:pt x="185708" y="297974"/>
                    <a:pt x="234686" y="346956"/>
                    <a:pt x="234686" y="407168"/>
                  </a:cubicBezTo>
                  <a:cubicBezTo>
                    <a:pt x="234686" y="467380"/>
                    <a:pt x="185708" y="516362"/>
                    <a:pt x="125503" y="516362"/>
                  </a:cubicBezTo>
                  <a:cubicBezTo>
                    <a:pt x="65297" y="516362"/>
                    <a:pt x="16320" y="467380"/>
                    <a:pt x="16320" y="407168"/>
                  </a:cubicBezTo>
                  <a:close/>
                  <a:moveTo>
                    <a:pt x="577836" y="798031"/>
                  </a:moveTo>
                  <a:cubicBezTo>
                    <a:pt x="517630" y="798031"/>
                    <a:pt x="468653" y="749049"/>
                    <a:pt x="468653" y="688837"/>
                  </a:cubicBezTo>
                  <a:cubicBezTo>
                    <a:pt x="468653" y="628625"/>
                    <a:pt x="517630" y="579643"/>
                    <a:pt x="577836" y="579643"/>
                  </a:cubicBezTo>
                  <a:cubicBezTo>
                    <a:pt x="638041" y="579643"/>
                    <a:pt x="687018" y="628625"/>
                    <a:pt x="687018" y="688837"/>
                  </a:cubicBezTo>
                  <a:cubicBezTo>
                    <a:pt x="687018" y="749049"/>
                    <a:pt x="638041" y="798031"/>
                    <a:pt x="577836" y="798031"/>
                  </a:cubicBez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589;p30">
              <a:extLst>
                <a:ext uri="{FF2B5EF4-FFF2-40B4-BE49-F238E27FC236}">
                  <a16:creationId xmlns:a16="http://schemas.microsoft.com/office/drawing/2014/main" id="{66A62FC4-5D6C-0D97-7FAE-56BEF7E3D663}"/>
                </a:ext>
              </a:extLst>
            </p:cNvPr>
            <p:cNvSpPr/>
            <p:nvPr/>
          </p:nvSpPr>
          <p:spPr>
            <a:xfrm>
              <a:off x="2566365" y="4757616"/>
              <a:ext cx="703338" cy="814369"/>
            </a:xfrm>
            <a:custGeom>
              <a:avLst/>
              <a:gdLst/>
              <a:ahLst/>
              <a:cxnLst/>
              <a:rect l="l" t="t" r="r" b="b"/>
              <a:pathLst>
                <a:path w="703338" h="814369" extrusionOk="0">
                  <a:moveTo>
                    <a:pt x="577836" y="563321"/>
                  </a:moveTo>
                  <a:cubicBezTo>
                    <a:pt x="514105" y="563321"/>
                    <a:pt x="461358" y="611079"/>
                    <a:pt x="453410" y="672694"/>
                  </a:cubicBezTo>
                  <a:lnTo>
                    <a:pt x="222119" y="487195"/>
                  </a:lnTo>
                  <a:cubicBezTo>
                    <a:pt x="240153" y="465454"/>
                    <a:pt x="251006" y="437560"/>
                    <a:pt x="251006" y="407185"/>
                  </a:cubicBezTo>
                  <a:cubicBezTo>
                    <a:pt x="251006" y="376793"/>
                    <a:pt x="240153" y="348915"/>
                    <a:pt x="222119" y="327174"/>
                  </a:cubicBezTo>
                  <a:lnTo>
                    <a:pt x="453410" y="141659"/>
                  </a:lnTo>
                  <a:cubicBezTo>
                    <a:pt x="461358" y="203258"/>
                    <a:pt x="514105" y="251032"/>
                    <a:pt x="577836" y="251032"/>
                  </a:cubicBezTo>
                  <a:cubicBezTo>
                    <a:pt x="647034" y="251032"/>
                    <a:pt x="703339" y="194721"/>
                    <a:pt x="703339" y="125516"/>
                  </a:cubicBezTo>
                  <a:cubicBezTo>
                    <a:pt x="703339" y="56311"/>
                    <a:pt x="647050" y="0"/>
                    <a:pt x="577836" y="0"/>
                  </a:cubicBezTo>
                  <a:cubicBezTo>
                    <a:pt x="509976" y="0"/>
                    <a:pt x="454552" y="54156"/>
                    <a:pt x="452431" y="121517"/>
                  </a:cubicBezTo>
                  <a:lnTo>
                    <a:pt x="210858" y="315275"/>
                  </a:lnTo>
                  <a:cubicBezTo>
                    <a:pt x="188450" y="294432"/>
                    <a:pt x="158437" y="281669"/>
                    <a:pt x="125503" y="281669"/>
                  </a:cubicBezTo>
                  <a:cubicBezTo>
                    <a:pt x="56305" y="281669"/>
                    <a:pt x="0" y="337979"/>
                    <a:pt x="0" y="407185"/>
                  </a:cubicBezTo>
                  <a:cubicBezTo>
                    <a:pt x="0" y="476390"/>
                    <a:pt x="56305" y="532701"/>
                    <a:pt x="125503" y="532701"/>
                  </a:cubicBezTo>
                  <a:cubicBezTo>
                    <a:pt x="158437" y="532701"/>
                    <a:pt x="188450" y="519921"/>
                    <a:pt x="210858" y="499094"/>
                  </a:cubicBezTo>
                  <a:lnTo>
                    <a:pt x="452431" y="692852"/>
                  </a:lnTo>
                  <a:cubicBezTo>
                    <a:pt x="454552" y="760213"/>
                    <a:pt x="509976" y="814369"/>
                    <a:pt x="577836" y="814369"/>
                  </a:cubicBezTo>
                  <a:cubicBezTo>
                    <a:pt x="647034" y="814369"/>
                    <a:pt x="703339" y="758058"/>
                    <a:pt x="703339" y="688853"/>
                  </a:cubicBezTo>
                  <a:cubicBezTo>
                    <a:pt x="703339" y="619648"/>
                    <a:pt x="647050" y="563321"/>
                    <a:pt x="577836" y="563321"/>
                  </a:cubicBezTo>
                  <a:close/>
                  <a:moveTo>
                    <a:pt x="577836" y="16322"/>
                  </a:moveTo>
                  <a:cubicBezTo>
                    <a:pt x="638041" y="16322"/>
                    <a:pt x="687018" y="65304"/>
                    <a:pt x="687018" y="125516"/>
                  </a:cubicBezTo>
                  <a:cubicBezTo>
                    <a:pt x="687018" y="185728"/>
                    <a:pt x="638041" y="234710"/>
                    <a:pt x="577836" y="234710"/>
                  </a:cubicBezTo>
                  <a:cubicBezTo>
                    <a:pt x="517630" y="234710"/>
                    <a:pt x="468653" y="185728"/>
                    <a:pt x="468653" y="125516"/>
                  </a:cubicBezTo>
                  <a:cubicBezTo>
                    <a:pt x="468653" y="65304"/>
                    <a:pt x="517630" y="16322"/>
                    <a:pt x="577836" y="16322"/>
                  </a:cubicBezTo>
                  <a:close/>
                  <a:moveTo>
                    <a:pt x="16320" y="407168"/>
                  </a:moveTo>
                  <a:cubicBezTo>
                    <a:pt x="16320" y="346956"/>
                    <a:pt x="65297" y="297974"/>
                    <a:pt x="125503" y="297974"/>
                  </a:cubicBezTo>
                  <a:cubicBezTo>
                    <a:pt x="185708" y="297974"/>
                    <a:pt x="234686" y="346956"/>
                    <a:pt x="234686" y="407168"/>
                  </a:cubicBezTo>
                  <a:cubicBezTo>
                    <a:pt x="234686" y="467380"/>
                    <a:pt x="185708" y="516362"/>
                    <a:pt x="125503" y="516362"/>
                  </a:cubicBezTo>
                  <a:cubicBezTo>
                    <a:pt x="65297" y="516362"/>
                    <a:pt x="16320" y="467380"/>
                    <a:pt x="16320" y="407168"/>
                  </a:cubicBezTo>
                  <a:close/>
                  <a:moveTo>
                    <a:pt x="577836" y="798031"/>
                  </a:moveTo>
                  <a:cubicBezTo>
                    <a:pt x="517630" y="798031"/>
                    <a:pt x="468653" y="749049"/>
                    <a:pt x="468653" y="688837"/>
                  </a:cubicBezTo>
                  <a:cubicBezTo>
                    <a:pt x="468653" y="628625"/>
                    <a:pt x="517630" y="579643"/>
                    <a:pt x="577836" y="579643"/>
                  </a:cubicBezTo>
                  <a:cubicBezTo>
                    <a:pt x="638041" y="579643"/>
                    <a:pt x="687018" y="628625"/>
                    <a:pt x="687018" y="688837"/>
                  </a:cubicBezTo>
                  <a:cubicBezTo>
                    <a:pt x="687018" y="749049"/>
                    <a:pt x="638041" y="798031"/>
                    <a:pt x="577836" y="798031"/>
                  </a:cubicBez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69DA96-2DF5-C1E1-3446-FFDFD66EB119}"/>
                </a:ext>
              </a:extLst>
            </p:cNvPr>
            <p:cNvGrpSpPr/>
            <p:nvPr/>
          </p:nvGrpSpPr>
          <p:grpSpPr>
            <a:xfrm>
              <a:off x="3012566" y="3633693"/>
              <a:ext cx="705088" cy="1944205"/>
              <a:chOff x="3030672" y="3633693"/>
              <a:chExt cx="705088" cy="1944205"/>
            </a:xfrm>
          </p:grpSpPr>
          <p:sp>
            <p:nvSpPr>
              <p:cNvPr id="6" name="Google Shape;589;p30">
                <a:extLst>
                  <a:ext uri="{FF2B5EF4-FFF2-40B4-BE49-F238E27FC236}">
                    <a16:creationId xmlns:a16="http://schemas.microsoft.com/office/drawing/2014/main" id="{365AE3F0-D507-9697-B26F-DB76B4A95206}"/>
                  </a:ext>
                </a:extLst>
              </p:cNvPr>
              <p:cNvSpPr/>
              <p:nvPr/>
            </p:nvSpPr>
            <p:spPr>
              <a:xfrm flipH="1">
                <a:off x="3032422" y="3633693"/>
                <a:ext cx="703338" cy="814369"/>
              </a:xfrm>
              <a:custGeom>
                <a:avLst/>
                <a:gdLst/>
                <a:ahLst/>
                <a:cxnLst/>
                <a:rect l="l" t="t" r="r" b="b"/>
                <a:pathLst>
                  <a:path w="703338" h="814369" extrusionOk="0">
                    <a:moveTo>
                      <a:pt x="577836" y="563321"/>
                    </a:moveTo>
                    <a:cubicBezTo>
                      <a:pt x="514105" y="563321"/>
                      <a:pt x="461358" y="611079"/>
                      <a:pt x="453410" y="672694"/>
                    </a:cubicBezTo>
                    <a:lnTo>
                      <a:pt x="222119" y="487195"/>
                    </a:lnTo>
                    <a:cubicBezTo>
                      <a:pt x="240153" y="465454"/>
                      <a:pt x="251006" y="437560"/>
                      <a:pt x="251006" y="407185"/>
                    </a:cubicBezTo>
                    <a:cubicBezTo>
                      <a:pt x="251006" y="376793"/>
                      <a:pt x="240153" y="348915"/>
                      <a:pt x="222119" y="327174"/>
                    </a:cubicBezTo>
                    <a:lnTo>
                      <a:pt x="453410" y="141659"/>
                    </a:lnTo>
                    <a:cubicBezTo>
                      <a:pt x="461358" y="203258"/>
                      <a:pt x="514105" y="251032"/>
                      <a:pt x="577836" y="251032"/>
                    </a:cubicBezTo>
                    <a:cubicBezTo>
                      <a:pt x="647034" y="251032"/>
                      <a:pt x="703339" y="194721"/>
                      <a:pt x="703339" y="125516"/>
                    </a:cubicBezTo>
                    <a:cubicBezTo>
                      <a:pt x="703339" y="56311"/>
                      <a:pt x="647050" y="0"/>
                      <a:pt x="577836" y="0"/>
                    </a:cubicBezTo>
                    <a:cubicBezTo>
                      <a:pt x="509976" y="0"/>
                      <a:pt x="454552" y="54156"/>
                      <a:pt x="452431" y="121517"/>
                    </a:cubicBezTo>
                    <a:lnTo>
                      <a:pt x="210858" y="315275"/>
                    </a:lnTo>
                    <a:cubicBezTo>
                      <a:pt x="188450" y="294432"/>
                      <a:pt x="158437" y="281669"/>
                      <a:pt x="125503" y="281669"/>
                    </a:cubicBezTo>
                    <a:cubicBezTo>
                      <a:pt x="56305" y="281669"/>
                      <a:pt x="0" y="337979"/>
                      <a:pt x="0" y="407185"/>
                    </a:cubicBezTo>
                    <a:cubicBezTo>
                      <a:pt x="0" y="476390"/>
                      <a:pt x="56305" y="532701"/>
                      <a:pt x="125503" y="532701"/>
                    </a:cubicBezTo>
                    <a:cubicBezTo>
                      <a:pt x="158437" y="532701"/>
                      <a:pt x="188450" y="519921"/>
                      <a:pt x="210858" y="499094"/>
                    </a:cubicBezTo>
                    <a:lnTo>
                      <a:pt x="452431" y="692852"/>
                    </a:lnTo>
                    <a:cubicBezTo>
                      <a:pt x="454552" y="760213"/>
                      <a:pt x="509976" y="814369"/>
                      <a:pt x="577836" y="814369"/>
                    </a:cubicBezTo>
                    <a:cubicBezTo>
                      <a:pt x="647034" y="814369"/>
                      <a:pt x="703339" y="758058"/>
                      <a:pt x="703339" y="688853"/>
                    </a:cubicBezTo>
                    <a:cubicBezTo>
                      <a:pt x="703339" y="619648"/>
                      <a:pt x="647050" y="563321"/>
                      <a:pt x="577836" y="563321"/>
                    </a:cubicBezTo>
                    <a:close/>
                    <a:moveTo>
                      <a:pt x="577836" y="16322"/>
                    </a:moveTo>
                    <a:cubicBezTo>
                      <a:pt x="638041" y="16322"/>
                      <a:pt x="687018" y="65304"/>
                      <a:pt x="687018" y="125516"/>
                    </a:cubicBezTo>
                    <a:cubicBezTo>
                      <a:pt x="687018" y="185728"/>
                      <a:pt x="638041" y="234710"/>
                      <a:pt x="577836" y="234710"/>
                    </a:cubicBezTo>
                    <a:cubicBezTo>
                      <a:pt x="517630" y="234710"/>
                      <a:pt x="468653" y="185728"/>
                      <a:pt x="468653" y="125516"/>
                    </a:cubicBezTo>
                    <a:cubicBezTo>
                      <a:pt x="468653" y="65304"/>
                      <a:pt x="517630" y="16322"/>
                      <a:pt x="577836" y="16322"/>
                    </a:cubicBezTo>
                    <a:close/>
                    <a:moveTo>
                      <a:pt x="16320" y="407168"/>
                    </a:moveTo>
                    <a:cubicBezTo>
                      <a:pt x="16320" y="346956"/>
                      <a:pt x="65297" y="297974"/>
                      <a:pt x="125503" y="297974"/>
                    </a:cubicBezTo>
                    <a:cubicBezTo>
                      <a:pt x="185708" y="297974"/>
                      <a:pt x="234686" y="346956"/>
                      <a:pt x="234686" y="407168"/>
                    </a:cubicBezTo>
                    <a:cubicBezTo>
                      <a:pt x="234686" y="467380"/>
                      <a:pt x="185708" y="516362"/>
                      <a:pt x="125503" y="516362"/>
                    </a:cubicBezTo>
                    <a:cubicBezTo>
                      <a:pt x="65297" y="516362"/>
                      <a:pt x="16320" y="467380"/>
                      <a:pt x="16320" y="407168"/>
                    </a:cubicBezTo>
                    <a:close/>
                    <a:moveTo>
                      <a:pt x="577836" y="798031"/>
                    </a:moveTo>
                    <a:cubicBezTo>
                      <a:pt x="517630" y="798031"/>
                      <a:pt x="468653" y="749049"/>
                      <a:pt x="468653" y="688837"/>
                    </a:cubicBezTo>
                    <a:cubicBezTo>
                      <a:pt x="468653" y="628625"/>
                      <a:pt x="517630" y="579643"/>
                      <a:pt x="577836" y="579643"/>
                    </a:cubicBezTo>
                    <a:cubicBezTo>
                      <a:pt x="638041" y="579643"/>
                      <a:pt x="687018" y="628625"/>
                      <a:pt x="687018" y="688837"/>
                    </a:cubicBezTo>
                    <a:cubicBezTo>
                      <a:pt x="687018" y="749049"/>
                      <a:pt x="638041" y="798031"/>
                      <a:pt x="577836" y="798031"/>
                    </a:cubicBezTo>
                    <a:close/>
                  </a:path>
                </a:pathLst>
              </a:custGeom>
              <a:solidFill>
                <a:srgbClr val="0C48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" name="Google Shape;589;p30">
                <a:extLst>
                  <a:ext uri="{FF2B5EF4-FFF2-40B4-BE49-F238E27FC236}">
                    <a16:creationId xmlns:a16="http://schemas.microsoft.com/office/drawing/2014/main" id="{88BD67B7-D3DC-9BCA-0922-D1356FF244D6}"/>
                  </a:ext>
                </a:extLst>
              </p:cNvPr>
              <p:cNvSpPr/>
              <p:nvPr/>
            </p:nvSpPr>
            <p:spPr>
              <a:xfrm flipH="1">
                <a:off x="3030673" y="4202571"/>
                <a:ext cx="703338" cy="814369"/>
              </a:xfrm>
              <a:custGeom>
                <a:avLst/>
                <a:gdLst/>
                <a:ahLst/>
                <a:cxnLst/>
                <a:rect l="l" t="t" r="r" b="b"/>
                <a:pathLst>
                  <a:path w="703338" h="814369" extrusionOk="0">
                    <a:moveTo>
                      <a:pt x="577836" y="563321"/>
                    </a:moveTo>
                    <a:cubicBezTo>
                      <a:pt x="514105" y="563321"/>
                      <a:pt x="461358" y="611079"/>
                      <a:pt x="453410" y="672694"/>
                    </a:cubicBezTo>
                    <a:lnTo>
                      <a:pt x="222119" y="487195"/>
                    </a:lnTo>
                    <a:cubicBezTo>
                      <a:pt x="240153" y="465454"/>
                      <a:pt x="251006" y="437560"/>
                      <a:pt x="251006" y="407185"/>
                    </a:cubicBezTo>
                    <a:cubicBezTo>
                      <a:pt x="251006" y="376793"/>
                      <a:pt x="240153" y="348915"/>
                      <a:pt x="222119" y="327174"/>
                    </a:cubicBezTo>
                    <a:lnTo>
                      <a:pt x="453410" y="141659"/>
                    </a:lnTo>
                    <a:cubicBezTo>
                      <a:pt x="461358" y="203258"/>
                      <a:pt x="514105" y="251032"/>
                      <a:pt x="577836" y="251032"/>
                    </a:cubicBezTo>
                    <a:cubicBezTo>
                      <a:pt x="647034" y="251032"/>
                      <a:pt x="703339" y="194721"/>
                      <a:pt x="703339" y="125516"/>
                    </a:cubicBezTo>
                    <a:cubicBezTo>
                      <a:pt x="703339" y="56311"/>
                      <a:pt x="647050" y="0"/>
                      <a:pt x="577836" y="0"/>
                    </a:cubicBezTo>
                    <a:cubicBezTo>
                      <a:pt x="509976" y="0"/>
                      <a:pt x="454552" y="54156"/>
                      <a:pt x="452431" y="121517"/>
                    </a:cubicBezTo>
                    <a:lnTo>
                      <a:pt x="210858" y="315275"/>
                    </a:lnTo>
                    <a:cubicBezTo>
                      <a:pt x="188450" y="294432"/>
                      <a:pt x="158437" y="281669"/>
                      <a:pt x="125503" y="281669"/>
                    </a:cubicBezTo>
                    <a:cubicBezTo>
                      <a:pt x="56305" y="281669"/>
                      <a:pt x="0" y="337979"/>
                      <a:pt x="0" y="407185"/>
                    </a:cubicBezTo>
                    <a:cubicBezTo>
                      <a:pt x="0" y="476390"/>
                      <a:pt x="56305" y="532701"/>
                      <a:pt x="125503" y="532701"/>
                    </a:cubicBezTo>
                    <a:cubicBezTo>
                      <a:pt x="158437" y="532701"/>
                      <a:pt x="188450" y="519921"/>
                      <a:pt x="210858" y="499094"/>
                    </a:cubicBezTo>
                    <a:lnTo>
                      <a:pt x="452431" y="692852"/>
                    </a:lnTo>
                    <a:cubicBezTo>
                      <a:pt x="454552" y="760213"/>
                      <a:pt x="509976" y="814369"/>
                      <a:pt x="577836" y="814369"/>
                    </a:cubicBezTo>
                    <a:cubicBezTo>
                      <a:pt x="647034" y="814369"/>
                      <a:pt x="703339" y="758058"/>
                      <a:pt x="703339" y="688853"/>
                    </a:cubicBezTo>
                    <a:cubicBezTo>
                      <a:pt x="703339" y="619648"/>
                      <a:pt x="647050" y="563321"/>
                      <a:pt x="577836" y="563321"/>
                    </a:cubicBezTo>
                    <a:close/>
                    <a:moveTo>
                      <a:pt x="577836" y="16322"/>
                    </a:moveTo>
                    <a:cubicBezTo>
                      <a:pt x="638041" y="16322"/>
                      <a:pt x="687018" y="65304"/>
                      <a:pt x="687018" y="125516"/>
                    </a:cubicBezTo>
                    <a:cubicBezTo>
                      <a:pt x="687018" y="185728"/>
                      <a:pt x="638041" y="234710"/>
                      <a:pt x="577836" y="234710"/>
                    </a:cubicBezTo>
                    <a:cubicBezTo>
                      <a:pt x="517630" y="234710"/>
                      <a:pt x="468653" y="185728"/>
                      <a:pt x="468653" y="125516"/>
                    </a:cubicBezTo>
                    <a:cubicBezTo>
                      <a:pt x="468653" y="65304"/>
                      <a:pt x="517630" y="16322"/>
                      <a:pt x="577836" y="16322"/>
                    </a:cubicBezTo>
                    <a:close/>
                    <a:moveTo>
                      <a:pt x="16320" y="407168"/>
                    </a:moveTo>
                    <a:cubicBezTo>
                      <a:pt x="16320" y="346956"/>
                      <a:pt x="65297" y="297974"/>
                      <a:pt x="125503" y="297974"/>
                    </a:cubicBezTo>
                    <a:cubicBezTo>
                      <a:pt x="185708" y="297974"/>
                      <a:pt x="234686" y="346956"/>
                      <a:pt x="234686" y="407168"/>
                    </a:cubicBezTo>
                    <a:cubicBezTo>
                      <a:pt x="234686" y="467380"/>
                      <a:pt x="185708" y="516362"/>
                      <a:pt x="125503" y="516362"/>
                    </a:cubicBezTo>
                    <a:cubicBezTo>
                      <a:pt x="65297" y="516362"/>
                      <a:pt x="16320" y="467380"/>
                      <a:pt x="16320" y="407168"/>
                    </a:cubicBezTo>
                    <a:close/>
                    <a:moveTo>
                      <a:pt x="577836" y="798031"/>
                    </a:moveTo>
                    <a:cubicBezTo>
                      <a:pt x="517630" y="798031"/>
                      <a:pt x="468653" y="749049"/>
                      <a:pt x="468653" y="688837"/>
                    </a:cubicBezTo>
                    <a:cubicBezTo>
                      <a:pt x="468653" y="628625"/>
                      <a:pt x="517630" y="579643"/>
                      <a:pt x="577836" y="579643"/>
                    </a:cubicBezTo>
                    <a:cubicBezTo>
                      <a:pt x="638041" y="579643"/>
                      <a:pt x="687018" y="628625"/>
                      <a:pt x="687018" y="688837"/>
                    </a:cubicBezTo>
                    <a:cubicBezTo>
                      <a:pt x="687018" y="749049"/>
                      <a:pt x="638041" y="798031"/>
                      <a:pt x="577836" y="798031"/>
                    </a:cubicBezTo>
                    <a:close/>
                  </a:path>
                </a:pathLst>
              </a:custGeom>
              <a:solidFill>
                <a:srgbClr val="0C48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89;p30">
                <a:extLst>
                  <a:ext uri="{FF2B5EF4-FFF2-40B4-BE49-F238E27FC236}">
                    <a16:creationId xmlns:a16="http://schemas.microsoft.com/office/drawing/2014/main" id="{AA224EAC-8CC9-707D-34AA-1BBAD5DC02B9}"/>
                  </a:ext>
                </a:extLst>
              </p:cNvPr>
              <p:cNvSpPr/>
              <p:nvPr/>
            </p:nvSpPr>
            <p:spPr>
              <a:xfrm flipH="1">
                <a:off x="3030672" y="4763529"/>
                <a:ext cx="703338" cy="814369"/>
              </a:xfrm>
              <a:custGeom>
                <a:avLst/>
                <a:gdLst/>
                <a:ahLst/>
                <a:cxnLst/>
                <a:rect l="l" t="t" r="r" b="b"/>
                <a:pathLst>
                  <a:path w="703338" h="814369" extrusionOk="0">
                    <a:moveTo>
                      <a:pt x="577836" y="563321"/>
                    </a:moveTo>
                    <a:cubicBezTo>
                      <a:pt x="514105" y="563321"/>
                      <a:pt x="461358" y="611079"/>
                      <a:pt x="453410" y="672694"/>
                    </a:cubicBezTo>
                    <a:lnTo>
                      <a:pt x="222119" y="487195"/>
                    </a:lnTo>
                    <a:cubicBezTo>
                      <a:pt x="240153" y="465454"/>
                      <a:pt x="251006" y="437560"/>
                      <a:pt x="251006" y="407185"/>
                    </a:cubicBezTo>
                    <a:cubicBezTo>
                      <a:pt x="251006" y="376793"/>
                      <a:pt x="240153" y="348915"/>
                      <a:pt x="222119" y="327174"/>
                    </a:cubicBezTo>
                    <a:lnTo>
                      <a:pt x="453410" y="141659"/>
                    </a:lnTo>
                    <a:cubicBezTo>
                      <a:pt x="461358" y="203258"/>
                      <a:pt x="514105" y="251032"/>
                      <a:pt x="577836" y="251032"/>
                    </a:cubicBezTo>
                    <a:cubicBezTo>
                      <a:pt x="647034" y="251032"/>
                      <a:pt x="703339" y="194721"/>
                      <a:pt x="703339" y="125516"/>
                    </a:cubicBezTo>
                    <a:cubicBezTo>
                      <a:pt x="703339" y="56311"/>
                      <a:pt x="647050" y="0"/>
                      <a:pt x="577836" y="0"/>
                    </a:cubicBezTo>
                    <a:cubicBezTo>
                      <a:pt x="509976" y="0"/>
                      <a:pt x="454552" y="54156"/>
                      <a:pt x="452431" y="121517"/>
                    </a:cubicBezTo>
                    <a:lnTo>
                      <a:pt x="210858" y="315275"/>
                    </a:lnTo>
                    <a:cubicBezTo>
                      <a:pt x="188450" y="294432"/>
                      <a:pt x="158437" y="281669"/>
                      <a:pt x="125503" y="281669"/>
                    </a:cubicBezTo>
                    <a:cubicBezTo>
                      <a:pt x="56305" y="281669"/>
                      <a:pt x="0" y="337979"/>
                      <a:pt x="0" y="407185"/>
                    </a:cubicBezTo>
                    <a:cubicBezTo>
                      <a:pt x="0" y="476390"/>
                      <a:pt x="56305" y="532701"/>
                      <a:pt x="125503" y="532701"/>
                    </a:cubicBezTo>
                    <a:cubicBezTo>
                      <a:pt x="158437" y="532701"/>
                      <a:pt x="188450" y="519921"/>
                      <a:pt x="210858" y="499094"/>
                    </a:cubicBezTo>
                    <a:lnTo>
                      <a:pt x="452431" y="692852"/>
                    </a:lnTo>
                    <a:cubicBezTo>
                      <a:pt x="454552" y="760213"/>
                      <a:pt x="509976" y="814369"/>
                      <a:pt x="577836" y="814369"/>
                    </a:cubicBezTo>
                    <a:cubicBezTo>
                      <a:pt x="647034" y="814369"/>
                      <a:pt x="703339" y="758058"/>
                      <a:pt x="703339" y="688853"/>
                    </a:cubicBezTo>
                    <a:cubicBezTo>
                      <a:pt x="703339" y="619648"/>
                      <a:pt x="647050" y="563321"/>
                      <a:pt x="577836" y="563321"/>
                    </a:cubicBezTo>
                    <a:close/>
                    <a:moveTo>
                      <a:pt x="577836" y="16322"/>
                    </a:moveTo>
                    <a:cubicBezTo>
                      <a:pt x="638041" y="16322"/>
                      <a:pt x="687018" y="65304"/>
                      <a:pt x="687018" y="125516"/>
                    </a:cubicBezTo>
                    <a:cubicBezTo>
                      <a:pt x="687018" y="185728"/>
                      <a:pt x="638041" y="234710"/>
                      <a:pt x="577836" y="234710"/>
                    </a:cubicBezTo>
                    <a:cubicBezTo>
                      <a:pt x="517630" y="234710"/>
                      <a:pt x="468653" y="185728"/>
                      <a:pt x="468653" y="125516"/>
                    </a:cubicBezTo>
                    <a:cubicBezTo>
                      <a:pt x="468653" y="65304"/>
                      <a:pt x="517630" y="16322"/>
                      <a:pt x="577836" y="16322"/>
                    </a:cubicBezTo>
                    <a:close/>
                    <a:moveTo>
                      <a:pt x="16320" y="407168"/>
                    </a:moveTo>
                    <a:cubicBezTo>
                      <a:pt x="16320" y="346956"/>
                      <a:pt x="65297" y="297974"/>
                      <a:pt x="125503" y="297974"/>
                    </a:cubicBezTo>
                    <a:cubicBezTo>
                      <a:pt x="185708" y="297974"/>
                      <a:pt x="234686" y="346956"/>
                      <a:pt x="234686" y="407168"/>
                    </a:cubicBezTo>
                    <a:cubicBezTo>
                      <a:pt x="234686" y="467380"/>
                      <a:pt x="185708" y="516362"/>
                      <a:pt x="125503" y="516362"/>
                    </a:cubicBezTo>
                    <a:cubicBezTo>
                      <a:pt x="65297" y="516362"/>
                      <a:pt x="16320" y="467380"/>
                      <a:pt x="16320" y="407168"/>
                    </a:cubicBezTo>
                    <a:close/>
                    <a:moveTo>
                      <a:pt x="577836" y="798031"/>
                    </a:moveTo>
                    <a:cubicBezTo>
                      <a:pt x="517630" y="798031"/>
                      <a:pt x="468653" y="749049"/>
                      <a:pt x="468653" y="688837"/>
                    </a:cubicBezTo>
                    <a:cubicBezTo>
                      <a:pt x="468653" y="628625"/>
                      <a:pt x="517630" y="579643"/>
                      <a:pt x="577836" y="579643"/>
                    </a:cubicBezTo>
                    <a:cubicBezTo>
                      <a:pt x="638041" y="579643"/>
                      <a:pt x="687018" y="628625"/>
                      <a:pt x="687018" y="688837"/>
                    </a:cubicBezTo>
                    <a:cubicBezTo>
                      <a:pt x="687018" y="749049"/>
                      <a:pt x="638041" y="798031"/>
                      <a:pt x="577836" y="798031"/>
                    </a:cubicBezTo>
                    <a:close/>
                  </a:path>
                </a:pathLst>
              </a:custGeom>
              <a:solidFill>
                <a:srgbClr val="0C48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5B281B3-3A00-5C85-096D-08278929ADC5}"/>
                </a:ext>
              </a:extLst>
            </p:cNvPr>
            <p:cNvGrpSpPr/>
            <p:nvPr/>
          </p:nvGrpSpPr>
          <p:grpSpPr>
            <a:xfrm>
              <a:off x="3463727" y="3920411"/>
              <a:ext cx="703339" cy="1375327"/>
              <a:chOff x="3030672" y="4202571"/>
              <a:chExt cx="703339" cy="1375327"/>
            </a:xfrm>
          </p:grpSpPr>
          <p:sp>
            <p:nvSpPr>
              <p:cNvPr id="12" name="Google Shape;589;p30">
                <a:extLst>
                  <a:ext uri="{FF2B5EF4-FFF2-40B4-BE49-F238E27FC236}">
                    <a16:creationId xmlns:a16="http://schemas.microsoft.com/office/drawing/2014/main" id="{B3970C2F-7042-8779-6394-AEEE4307035B}"/>
                  </a:ext>
                </a:extLst>
              </p:cNvPr>
              <p:cNvSpPr/>
              <p:nvPr/>
            </p:nvSpPr>
            <p:spPr>
              <a:xfrm flipH="1">
                <a:off x="3030673" y="4202571"/>
                <a:ext cx="703338" cy="814369"/>
              </a:xfrm>
              <a:custGeom>
                <a:avLst/>
                <a:gdLst/>
                <a:ahLst/>
                <a:cxnLst/>
                <a:rect l="l" t="t" r="r" b="b"/>
                <a:pathLst>
                  <a:path w="703338" h="814369" extrusionOk="0">
                    <a:moveTo>
                      <a:pt x="577836" y="563321"/>
                    </a:moveTo>
                    <a:cubicBezTo>
                      <a:pt x="514105" y="563321"/>
                      <a:pt x="461358" y="611079"/>
                      <a:pt x="453410" y="672694"/>
                    </a:cubicBezTo>
                    <a:lnTo>
                      <a:pt x="222119" y="487195"/>
                    </a:lnTo>
                    <a:cubicBezTo>
                      <a:pt x="240153" y="465454"/>
                      <a:pt x="251006" y="437560"/>
                      <a:pt x="251006" y="407185"/>
                    </a:cubicBezTo>
                    <a:cubicBezTo>
                      <a:pt x="251006" y="376793"/>
                      <a:pt x="240153" y="348915"/>
                      <a:pt x="222119" y="327174"/>
                    </a:cubicBezTo>
                    <a:lnTo>
                      <a:pt x="453410" y="141659"/>
                    </a:lnTo>
                    <a:cubicBezTo>
                      <a:pt x="461358" y="203258"/>
                      <a:pt x="514105" y="251032"/>
                      <a:pt x="577836" y="251032"/>
                    </a:cubicBezTo>
                    <a:cubicBezTo>
                      <a:pt x="647034" y="251032"/>
                      <a:pt x="703339" y="194721"/>
                      <a:pt x="703339" y="125516"/>
                    </a:cubicBezTo>
                    <a:cubicBezTo>
                      <a:pt x="703339" y="56311"/>
                      <a:pt x="647050" y="0"/>
                      <a:pt x="577836" y="0"/>
                    </a:cubicBezTo>
                    <a:cubicBezTo>
                      <a:pt x="509976" y="0"/>
                      <a:pt x="454552" y="54156"/>
                      <a:pt x="452431" y="121517"/>
                    </a:cubicBezTo>
                    <a:lnTo>
                      <a:pt x="210858" y="315275"/>
                    </a:lnTo>
                    <a:cubicBezTo>
                      <a:pt x="188450" y="294432"/>
                      <a:pt x="158437" y="281669"/>
                      <a:pt x="125503" y="281669"/>
                    </a:cubicBezTo>
                    <a:cubicBezTo>
                      <a:pt x="56305" y="281669"/>
                      <a:pt x="0" y="337979"/>
                      <a:pt x="0" y="407185"/>
                    </a:cubicBezTo>
                    <a:cubicBezTo>
                      <a:pt x="0" y="476390"/>
                      <a:pt x="56305" y="532701"/>
                      <a:pt x="125503" y="532701"/>
                    </a:cubicBezTo>
                    <a:cubicBezTo>
                      <a:pt x="158437" y="532701"/>
                      <a:pt x="188450" y="519921"/>
                      <a:pt x="210858" y="499094"/>
                    </a:cubicBezTo>
                    <a:lnTo>
                      <a:pt x="452431" y="692852"/>
                    </a:lnTo>
                    <a:cubicBezTo>
                      <a:pt x="454552" y="760213"/>
                      <a:pt x="509976" y="814369"/>
                      <a:pt x="577836" y="814369"/>
                    </a:cubicBezTo>
                    <a:cubicBezTo>
                      <a:pt x="647034" y="814369"/>
                      <a:pt x="703339" y="758058"/>
                      <a:pt x="703339" y="688853"/>
                    </a:cubicBezTo>
                    <a:cubicBezTo>
                      <a:pt x="703339" y="619648"/>
                      <a:pt x="647050" y="563321"/>
                      <a:pt x="577836" y="563321"/>
                    </a:cubicBezTo>
                    <a:close/>
                    <a:moveTo>
                      <a:pt x="577836" y="16322"/>
                    </a:moveTo>
                    <a:cubicBezTo>
                      <a:pt x="638041" y="16322"/>
                      <a:pt x="687018" y="65304"/>
                      <a:pt x="687018" y="125516"/>
                    </a:cubicBezTo>
                    <a:cubicBezTo>
                      <a:pt x="687018" y="185728"/>
                      <a:pt x="638041" y="234710"/>
                      <a:pt x="577836" y="234710"/>
                    </a:cubicBezTo>
                    <a:cubicBezTo>
                      <a:pt x="517630" y="234710"/>
                      <a:pt x="468653" y="185728"/>
                      <a:pt x="468653" y="125516"/>
                    </a:cubicBezTo>
                    <a:cubicBezTo>
                      <a:pt x="468653" y="65304"/>
                      <a:pt x="517630" y="16322"/>
                      <a:pt x="577836" y="16322"/>
                    </a:cubicBezTo>
                    <a:close/>
                    <a:moveTo>
                      <a:pt x="16320" y="407168"/>
                    </a:moveTo>
                    <a:cubicBezTo>
                      <a:pt x="16320" y="346956"/>
                      <a:pt x="65297" y="297974"/>
                      <a:pt x="125503" y="297974"/>
                    </a:cubicBezTo>
                    <a:cubicBezTo>
                      <a:pt x="185708" y="297974"/>
                      <a:pt x="234686" y="346956"/>
                      <a:pt x="234686" y="407168"/>
                    </a:cubicBezTo>
                    <a:cubicBezTo>
                      <a:pt x="234686" y="467380"/>
                      <a:pt x="185708" y="516362"/>
                      <a:pt x="125503" y="516362"/>
                    </a:cubicBezTo>
                    <a:cubicBezTo>
                      <a:pt x="65297" y="516362"/>
                      <a:pt x="16320" y="467380"/>
                      <a:pt x="16320" y="407168"/>
                    </a:cubicBezTo>
                    <a:close/>
                    <a:moveTo>
                      <a:pt x="577836" y="798031"/>
                    </a:moveTo>
                    <a:cubicBezTo>
                      <a:pt x="517630" y="798031"/>
                      <a:pt x="468653" y="749049"/>
                      <a:pt x="468653" y="688837"/>
                    </a:cubicBezTo>
                    <a:cubicBezTo>
                      <a:pt x="468653" y="628625"/>
                      <a:pt x="517630" y="579643"/>
                      <a:pt x="577836" y="579643"/>
                    </a:cubicBezTo>
                    <a:cubicBezTo>
                      <a:pt x="638041" y="579643"/>
                      <a:pt x="687018" y="628625"/>
                      <a:pt x="687018" y="688837"/>
                    </a:cubicBezTo>
                    <a:cubicBezTo>
                      <a:pt x="687018" y="749049"/>
                      <a:pt x="638041" y="798031"/>
                      <a:pt x="577836" y="798031"/>
                    </a:cubicBezTo>
                    <a:close/>
                  </a:path>
                </a:pathLst>
              </a:custGeom>
              <a:solidFill>
                <a:srgbClr val="0C48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589;p30">
                <a:extLst>
                  <a:ext uri="{FF2B5EF4-FFF2-40B4-BE49-F238E27FC236}">
                    <a16:creationId xmlns:a16="http://schemas.microsoft.com/office/drawing/2014/main" id="{227DC10C-FEBF-F8A6-6D42-8012095B2913}"/>
                  </a:ext>
                </a:extLst>
              </p:cNvPr>
              <p:cNvSpPr/>
              <p:nvPr/>
            </p:nvSpPr>
            <p:spPr>
              <a:xfrm flipH="1">
                <a:off x="3030672" y="4763529"/>
                <a:ext cx="703338" cy="814369"/>
              </a:xfrm>
              <a:custGeom>
                <a:avLst/>
                <a:gdLst/>
                <a:ahLst/>
                <a:cxnLst/>
                <a:rect l="l" t="t" r="r" b="b"/>
                <a:pathLst>
                  <a:path w="703338" h="814369" extrusionOk="0">
                    <a:moveTo>
                      <a:pt x="577836" y="563321"/>
                    </a:moveTo>
                    <a:cubicBezTo>
                      <a:pt x="514105" y="563321"/>
                      <a:pt x="461358" y="611079"/>
                      <a:pt x="453410" y="672694"/>
                    </a:cubicBezTo>
                    <a:lnTo>
                      <a:pt x="222119" y="487195"/>
                    </a:lnTo>
                    <a:cubicBezTo>
                      <a:pt x="240153" y="465454"/>
                      <a:pt x="251006" y="437560"/>
                      <a:pt x="251006" y="407185"/>
                    </a:cubicBezTo>
                    <a:cubicBezTo>
                      <a:pt x="251006" y="376793"/>
                      <a:pt x="240153" y="348915"/>
                      <a:pt x="222119" y="327174"/>
                    </a:cubicBezTo>
                    <a:lnTo>
                      <a:pt x="453410" y="141659"/>
                    </a:lnTo>
                    <a:cubicBezTo>
                      <a:pt x="461358" y="203258"/>
                      <a:pt x="514105" y="251032"/>
                      <a:pt x="577836" y="251032"/>
                    </a:cubicBezTo>
                    <a:cubicBezTo>
                      <a:pt x="647034" y="251032"/>
                      <a:pt x="703339" y="194721"/>
                      <a:pt x="703339" y="125516"/>
                    </a:cubicBezTo>
                    <a:cubicBezTo>
                      <a:pt x="703339" y="56311"/>
                      <a:pt x="647050" y="0"/>
                      <a:pt x="577836" y="0"/>
                    </a:cubicBezTo>
                    <a:cubicBezTo>
                      <a:pt x="509976" y="0"/>
                      <a:pt x="454552" y="54156"/>
                      <a:pt x="452431" y="121517"/>
                    </a:cubicBezTo>
                    <a:lnTo>
                      <a:pt x="210858" y="315275"/>
                    </a:lnTo>
                    <a:cubicBezTo>
                      <a:pt x="188450" y="294432"/>
                      <a:pt x="158437" y="281669"/>
                      <a:pt x="125503" y="281669"/>
                    </a:cubicBezTo>
                    <a:cubicBezTo>
                      <a:pt x="56305" y="281669"/>
                      <a:pt x="0" y="337979"/>
                      <a:pt x="0" y="407185"/>
                    </a:cubicBezTo>
                    <a:cubicBezTo>
                      <a:pt x="0" y="476390"/>
                      <a:pt x="56305" y="532701"/>
                      <a:pt x="125503" y="532701"/>
                    </a:cubicBezTo>
                    <a:cubicBezTo>
                      <a:pt x="158437" y="532701"/>
                      <a:pt x="188450" y="519921"/>
                      <a:pt x="210858" y="499094"/>
                    </a:cubicBezTo>
                    <a:lnTo>
                      <a:pt x="452431" y="692852"/>
                    </a:lnTo>
                    <a:cubicBezTo>
                      <a:pt x="454552" y="760213"/>
                      <a:pt x="509976" y="814369"/>
                      <a:pt x="577836" y="814369"/>
                    </a:cubicBezTo>
                    <a:cubicBezTo>
                      <a:pt x="647034" y="814369"/>
                      <a:pt x="703339" y="758058"/>
                      <a:pt x="703339" y="688853"/>
                    </a:cubicBezTo>
                    <a:cubicBezTo>
                      <a:pt x="703339" y="619648"/>
                      <a:pt x="647050" y="563321"/>
                      <a:pt x="577836" y="563321"/>
                    </a:cubicBezTo>
                    <a:close/>
                    <a:moveTo>
                      <a:pt x="577836" y="16322"/>
                    </a:moveTo>
                    <a:cubicBezTo>
                      <a:pt x="638041" y="16322"/>
                      <a:pt x="687018" y="65304"/>
                      <a:pt x="687018" y="125516"/>
                    </a:cubicBezTo>
                    <a:cubicBezTo>
                      <a:pt x="687018" y="185728"/>
                      <a:pt x="638041" y="234710"/>
                      <a:pt x="577836" y="234710"/>
                    </a:cubicBezTo>
                    <a:cubicBezTo>
                      <a:pt x="517630" y="234710"/>
                      <a:pt x="468653" y="185728"/>
                      <a:pt x="468653" y="125516"/>
                    </a:cubicBezTo>
                    <a:cubicBezTo>
                      <a:pt x="468653" y="65304"/>
                      <a:pt x="517630" y="16322"/>
                      <a:pt x="577836" y="16322"/>
                    </a:cubicBezTo>
                    <a:close/>
                    <a:moveTo>
                      <a:pt x="16320" y="407168"/>
                    </a:moveTo>
                    <a:cubicBezTo>
                      <a:pt x="16320" y="346956"/>
                      <a:pt x="65297" y="297974"/>
                      <a:pt x="125503" y="297974"/>
                    </a:cubicBezTo>
                    <a:cubicBezTo>
                      <a:pt x="185708" y="297974"/>
                      <a:pt x="234686" y="346956"/>
                      <a:pt x="234686" y="407168"/>
                    </a:cubicBezTo>
                    <a:cubicBezTo>
                      <a:pt x="234686" y="467380"/>
                      <a:pt x="185708" y="516362"/>
                      <a:pt x="125503" y="516362"/>
                    </a:cubicBezTo>
                    <a:cubicBezTo>
                      <a:pt x="65297" y="516362"/>
                      <a:pt x="16320" y="467380"/>
                      <a:pt x="16320" y="407168"/>
                    </a:cubicBezTo>
                    <a:close/>
                    <a:moveTo>
                      <a:pt x="577836" y="798031"/>
                    </a:moveTo>
                    <a:cubicBezTo>
                      <a:pt x="517630" y="798031"/>
                      <a:pt x="468653" y="749049"/>
                      <a:pt x="468653" y="688837"/>
                    </a:cubicBezTo>
                    <a:cubicBezTo>
                      <a:pt x="468653" y="628625"/>
                      <a:pt x="517630" y="579643"/>
                      <a:pt x="577836" y="579643"/>
                    </a:cubicBezTo>
                    <a:cubicBezTo>
                      <a:pt x="638041" y="579643"/>
                      <a:pt x="687018" y="628625"/>
                      <a:pt x="687018" y="688837"/>
                    </a:cubicBezTo>
                    <a:cubicBezTo>
                      <a:pt x="687018" y="749049"/>
                      <a:pt x="638041" y="798031"/>
                      <a:pt x="577836" y="798031"/>
                    </a:cubicBezTo>
                    <a:close/>
                  </a:path>
                </a:pathLst>
              </a:custGeom>
              <a:solidFill>
                <a:srgbClr val="0C48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" name="Google Shape;589;p30">
              <a:extLst>
                <a:ext uri="{FF2B5EF4-FFF2-40B4-BE49-F238E27FC236}">
                  <a16:creationId xmlns:a16="http://schemas.microsoft.com/office/drawing/2014/main" id="{71E16D3E-A2EC-9278-0F46-2B88F9A3F246}"/>
                </a:ext>
              </a:extLst>
            </p:cNvPr>
            <p:cNvSpPr/>
            <p:nvPr/>
          </p:nvSpPr>
          <p:spPr>
            <a:xfrm flipH="1">
              <a:off x="3915090" y="4197791"/>
              <a:ext cx="703338" cy="814369"/>
            </a:xfrm>
            <a:custGeom>
              <a:avLst/>
              <a:gdLst/>
              <a:ahLst/>
              <a:cxnLst/>
              <a:rect l="l" t="t" r="r" b="b"/>
              <a:pathLst>
                <a:path w="703338" h="814369" extrusionOk="0">
                  <a:moveTo>
                    <a:pt x="577836" y="563321"/>
                  </a:moveTo>
                  <a:cubicBezTo>
                    <a:pt x="514105" y="563321"/>
                    <a:pt x="461358" y="611079"/>
                    <a:pt x="453410" y="672694"/>
                  </a:cubicBezTo>
                  <a:lnTo>
                    <a:pt x="222119" y="487195"/>
                  </a:lnTo>
                  <a:cubicBezTo>
                    <a:pt x="240153" y="465454"/>
                    <a:pt x="251006" y="437560"/>
                    <a:pt x="251006" y="407185"/>
                  </a:cubicBezTo>
                  <a:cubicBezTo>
                    <a:pt x="251006" y="376793"/>
                    <a:pt x="240153" y="348915"/>
                    <a:pt x="222119" y="327174"/>
                  </a:cubicBezTo>
                  <a:lnTo>
                    <a:pt x="453410" y="141659"/>
                  </a:lnTo>
                  <a:cubicBezTo>
                    <a:pt x="461358" y="203258"/>
                    <a:pt x="514105" y="251032"/>
                    <a:pt x="577836" y="251032"/>
                  </a:cubicBezTo>
                  <a:cubicBezTo>
                    <a:pt x="647034" y="251032"/>
                    <a:pt x="703339" y="194721"/>
                    <a:pt x="703339" y="125516"/>
                  </a:cubicBezTo>
                  <a:cubicBezTo>
                    <a:pt x="703339" y="56311"/>
                    <a:pt x="647050" y="0"/>
                    <a:pt x="577836" y="0"/>
                  </a:cubicBezTo>
                  <a:cubicBezTo>
                    <a:pt x="509976" y="0"/>
                    <a:pt x="454552" y="54156"/>
                    <a:pt x="452431" y="121517"/>
                  </a:cubicBezTo>
                  <a:lnTo>
                    <a:pt x="210858" y="315275"/>
                  </a:lnTo>
                  <a:cubicBezTo>
                    <a:pt x="188450" y="294432"/>
                    <a:pt x="158437" y="281669"/>
                    <a:pt x="125503" y="281669"/>
                  </a:cubicBezTo>
                  <a:cubicBezTo>
                    <a:pt x="56305" y="281669"/>
                    <a:pt x="0" y="337979"/>
                    <a:pt x="0" y="407185"/>
                  </a:cubicBezTo>
                  <a:cubicBezTo>
                    <a:pt x="0" y="476390"/>
                    <a:pt x="56305" y="532701"/>
                    <a:pt x="125503" y="532701"/>
                  </a:cubicBezTo>
                  <a:cubicBezTo>
                    <a:pt x="158437" y="532701"/>
                    <a:pt x="188450" y="519921"/>
                    <a:pt x="210858" y="499094"/>
                  </a:cubicBezTo>
                  <a:lnTo>
                    <a:pt x="452431" y="692852"/>
                  </a:lnTo>
                  <a:cubicBezTo>
                    <a:pt x="454552" y="760213"/>
                    <a:pt x="509976" y="814369"/>
                    <a:pt x="577836" y="814369"/>
                  </a:cubicBezTo>
                  <a:cubicBezTo>
                    <a:pt x="647034" y="814369"/>
                    <a:pt x="703339" y="758058"/>
                    <a:pt x="703339" y="688853"/>
                  </a:cubicBezTo>
                  <a:cubicBezTo>
                    <a:pt x="703339" y="619648"/>
                    <a:pt x="647050" y="563321"/>
                    <a:pt x="577836" y="563321"/>
                  </a:cubicBezTo>
                  <a:close/>
                  <a:moveTo>
                    <a:pt x="577836" y="16322"/>
                  </a:moveTo>
                  <a:cubicBezTo>
                    <a:pt x="638041" y="16322"/>
                    <a:pt x="687018" y="65304"/>
                    <a:pt x="687018" y="125516"/>
                  </a:cubicBezTo>
                  <a:cubicBezTo>
                    <a:pt x="687018" y="185728"/>
                    <a:pt x="638041" y="234710"/>
                    <a:pt x="577836" y="234710"/>
                  </a:cubicBezTo>
                  <a:cubicBezTo>
                    <a:pt x="517630" y="234710"/>
                    <a:pt x="468653" y="185728"/>
                    <a:pt x="468653" y="125516"/>
                  </a:cubicBezTo>
                  <a:cubicBezTo>
                    <a:pt x="468653" y="65304"/>
                    <a:pt x="517630" y="16322"/>
                    <a:pt x="577836" y="16322"/>
                  </a:cubicBezTo>
                  <a:close/>
                  <a:moveTo>
                    <a:pt x="16320" y="407168"/>
                  </a:moveTo>
                  <a:cubicBezTo>
                    <a:pt x="16320" y="346956"/>
                    <a:pt x="65297" y="297974"/>
                    <a:pt x="125503" y="297974"/>
                  </a:cubicBezTo>
                  <a:cubicBezTo>
                    <a:pt x="185708" y="297974"/>
                    <a:pt x="234686" y="346956"/>
                    <a:pt x="234686" y="407168"/>
                  </a:cubicBezTo>
                  <a:cubicBezTo>
                    <a:pt x="234686" y="467380"/>
                    <a:pt x="185708" y="516362"/>
                    <a:pt x="125503" y="516362"/>
                  </a:cubicBezTo>
                  <a:cubicBezTo>
                    <a:pt x="65297" y="516362"/>
                    <a:pt x="16320" y="467380"/>
                    <a:pt x="16320" y="407168"/>
                  </a:cubicBezTo>
                  <a:close/>
                  <a:moveTo>
                    <a:pt x="577836" y="798031"/>
                  </a:moveTo>
                  <a:cubicBezTo>
                    <a:pt x="517630" y="798031"/>
                    <a:pt x="468653" y="749049"/>
                    <a:pt x="468653" y="688837"/>
                  </a:cubicBezTo>
                  <a:cubicBezTo>
                    <a:pt x="468653" y="628625"/>
                    <a:pt x="517630" y="579643"/>
                    <a:pt x="577836" y="579643"/>
                  </a:cubicBezTo>
                  <a:cubicBezTo>
                    <a:pt x="638041" y="579643"/>
                    <a:pt x="687018" y="628625"/>
                    <a:pt x="687018" y="688837"/>
                  </a:cubicBezTo>
                  <a:cubicBezTo>
                    <a:pt x="687018" y="749049"/>
                    <a:pt x="638041" y="798031"/>
                    <a:pt x="577836" y="798031"/>
                  </a:cubicBez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84;p16">
            <a:extLst>
              <a:ext uri="{FF2B5EF4-FFF2-40B4-BE49-F238E27FC236}">
                <a16:creationId xmlns:a16="http://schemas.microsoft.com/office/drawing/2014/main" id="{CE8D336D-ABAF-62F4-00B9-49D26CF2CA6D}"/>
              </a:ext>
            </a:extLst>
          </p:cNvPr>
          <p:cNvGrpSpPr/>
          <p:nvPr/>
        </p:nvGrpSpPr>
        <p:grpSpPr>
          <a:xfrm>
            <a:off x="13606098" y="3414586"/>
            <a:ext cx="2325311" cy="2335734"/>
            <a:chOff x="6947" y="0"/>
            <a:chExt cx="3100414" cy="3114311"/>
          </a:xfrm>
        </p:grpSpPr>
        <p:grpSp>
          <p:nvGrpSpPr>
            <p:cNvPr id="17" name="Google Shape;185;p16">
              <a:extLst>
                <a:ext uri="{FF2B5EF4-FFF2-40B4-BE49-F238E27FC236}">
                  <a16:creationId xmlns:a16="http://schemas.microsoft.com/office/drawing/2014/main" id="{CE5B0E07-FB58-F66E-BB16-B51B0F152886}"/>
                </a:ext>
              </a:extLst>
            </p:cNvPr>
            <p:cNvGrpSpPr/>
            <p:nvPr/>
          </p:nvGrpSpPr>
          <p:grpSpPr>
            <a:xfrm>
              <a:off x="6947" y="0"/>
              <a:ext cx="3100414" cy="3114311"/>
              <a:chOff x="1813" y="0"/>
              <a:chExt cx="809173" cy="812800"/>
            </a:xfrm>
          </p:grpSpPr>
          <p:sp>
            <p:nvSpPr>
              <p:cNvPr id="20" name="Google Shape;186;p16">
                <a:extLst>
                  <a:ext uri="{FF2B5EF4-FFF2-40B4-BE49-F238E27FC236}">
                    <a16:creationId xmlns:a16="http://schemas.microsoft.com/office/drawing/2014/main" id="{5C911EB5-9028-C941-41E0-A615988E77C9}"/>
                  </a:ext>
                </a:extLst>
              </p:cNvPr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87;p16">
                <a:extLst>
                  <a:ext uri="{FF2B5EF4-FFF2-40B4-BE49-F238E27FC236}">
                    <a16:creationId xmlns:a16="http://schemas.microsoft.com/office/drawing/2014/main" id="{BE82B6F1-B77F-7D41-82E9-29E6F28F3EC5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" name="Google Shape;188;p16">
              <a:extLst>
                <a:ext uri="{FF2B5EF4-FFF2-40B4-BE49-F238E27FC236}">
                  <a16:creationId xmlns:a16="http://schemas.microsoft.com/office/drawing/2014/main" id="{174A6BCA-9BC6-FC28-5E3A-158A2DB4082A}"/>
                </a:ext>
              </a:extLst>
            </p:cNvPr>
            <p:cNvSpPr/>
            <p:nvPr/>
          </p:nvSpPr>
          <p:spPr>
            <a:xfrm>
              <a:off x="1027826" y="785040"/>
              <a:ext cx="1057613" cy="1823795"/>
            </a:xfrm>
            <a:custGeom>
              <a:avLst/>
              <a:gdLst/>
              <a:ahLst/>
              <a:cxnLst/>
              <a:rect l="l" t="t" r="r" b="b"/>
              <a:pathLst>
                <a:path w="1057613" h="1823795" extrusionOk="0">
                  <a:moveTo>
                    <a:pt x="835719" y="1631333"/>
                  </a:moveTo>
                  <a:lnTo>
                    <a:pt x="835719" y="1783530"/>
                  </a:lnTo>
                  <a:cubicBezTo>
                    <a:pt x="835719" y="1805767"/>
                    <a:pt x="817687" y="1823795"/>
                    <a:pt x="795445" y="1823795"/>
                  </a:cubicBezTo>
                  <a:lnTo>
                    <a:pt x="262168" y="1823795"/>
                  </a:lnTo>
                  <a:cubicBezTo>
                    <a:pt x="239926" y="1823795"/>
                    <a:pt x="221895" y="1805767"/>
                    <a:pt x="221895" y="1783530"/>
                  </a:cubicBezTo>
                  <a:lnTo>
                    <a:pt x="221895" y="1631333"/>
                  </a:lnTo>
                  <a:cubicBezTo>
                    <a:pt x="221895" y="1609095"/>
                    <a:pt x="239926" y="1591067"/>
                    <a:pt x="262168" y="1591067"/>
                  </a:cubicBezTo>
                  <a:lnTo>
                    <a:pt x="795483" y="1591067"/>
                  </a:lnTo>
                  <a:cubicBezTo>
                    <a:pt x="817687" y="1591030"/>
                    <a:pt x="835719" y="1609058"/>
                    <a:pt x="835719" y="1631333"/>
                  </a:cubicBezTo>
                  <a:close/>
                  <a:moveTo>
                    <a:pt x="1033509" y="0"/>
                  </a:moveTo>
                  <a:lnTo>
                    <a:pt x="24104" y="0"/>
                  </a:lnTo>
                  <a:cubicBezTo>
                    <a:pt x="10767" y="0"/>
                    <a:pt x="0" y="10802"/>
                    <a:pt x="0" y="24100"/>
                  </a:cubicBezTo>
                  <a:lnTo>
                    <a:pt x="0" y="710589"/>
                  </a:lnTo>
                  <a:cubicBezTo>
                    <a:pt x="0" y="959259"/>
                    <a:pt x="171711" y="1167813"/>
                    <a:pt x="403069" y="1224207"/>
                  </a:cubicBezTo>
                  <a:lnTo>
                    <a:pt x="402808" y="1224207"/>
                  </a:lnTo>
                  <a:lnTo>
                    <a:pt x="352550" y="1591030"/>
                  </a:lnTo>
                  <a:lnTo>
                    <a:pt x="705063" y="1591030"/>
                  </a:lnTo>
                  <a:lnTo>
                    <a:pt x="654805" y="1224207"/>
                  </a:lnTo>
                  <a:lnTo>
                    <a:pt x="654545" y="1224207"/>
                  </a:lnTo>
                  <a:cubicBezTo>
                    <a:pt x="885902" y="1167776"/>
                    <a:pt x="1057613" y="959259"/>
                    <a:pt x="1057613" y="710589"/>
                  </a:cubicBezTo>
                  <a:lnTo>
                    <a:pt x="1057613" y="24100"/>
                  </a:lnTo>
                  <a:cubicBezTo>
                    <a:pt x="1057613" y="10802"/>
                    <a:pt x="1046809" y="0"/>
                    <a:pt x="1033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89;p16">
              <a:extLst>
                <a:ext uri="{FF2B5EF4-FFF2-40B4-BE49-F238E27FC236}">
                  <a16:creationId xmlns:a16="http://schemas.microsoft.com/office/drawing/2014/main" id="{DAD7ABBF-E070-5C9A-C8E0-DC51CC0E1A9A}"/>
                </a:ext>
              </a:extLst>
            </p:cNvPr>
            <p:cNvSpPr/>
            <p:nvPr/>
          </p:nvSpPr>
          <p:spPr>
            <a:xfrm>
              <a:off x="683504" y="766416"/>
              <a:ext cx="1746370" cy="1861043"/>
            </a:xfrm>
            <a:custGeom>
              <a:avLst/>
              <a:gdLst/>
              <a:ahLst/>
              <a:cxnLst/>
              <a:rect l="l" t="t" r="r" b="b"/>
              <a:pathLst>
                <a:path w="1746370" h="1861043" extrusionOk="0">
                  <a:moveTo>
                    <a:pt x="1690854" y="304320"/>
                  </a:moveTo>
                  <a:lnTo>
                    <a:pt x="1420564" y="304320"/>
                  </a:lnTo>
                  <a:lnTo>
                    <a:pt x="1420564" y="42724"/>
                  </a:lnTo>
                  <a:cubicBezTo>
                    <a:pt x="1420564" y="19183"/>
                    <a:pt x="1401378" y="0"/>
                    <a:pt x="1377832" y="0"/>
                  </a:cubicBezTo>
                  <a:lnTo>
                    <a:pt x="368427" y="0"/>
                  </a:lnTo>
                  <a:cubicBezTo>
                    <a:pt x="344844" y="0"/>
                    <a:pt x="325695" y="19183"/>
                    <a:pt x="325695" y="42724"/>
                  </a:cubicBezTo>
                  <a:lnTo>
                    <a:pt x="325695" y="304320"/>
                  </a:lnTo>
                  <a:lnTo>
                    <a:pt x="55368" y="304320"/>
                  </a:lnTo>
                  <a:cubicBezTo>
                    <a:pt x="24893" y="304320"/>
                    <a:pt x="81" y="329127"/>
                    <a:pt x="6" y="359634"/>
                  </a:cubicBezTo>
                  <a:cubicBezTo>
                    <a:pt x="-813" y="795329"/>
                    <a:pt x="79808" y="1061059"/>
                    <a:pt x="239635" y="1149524"/>
                  </a:cubicBezTo>
                  <a:cubicBezTo>
                    <a:pt x="281286" y="1172581"/>
                    <a:pt x="323273" y="1180701"/>
                    <a:pt x="361721" y="1180701"/>
                  </a:cubicBezTo>
                  <a:cubicBezTo>
                    <a:pt x="431650" y="1180701"/>
                    <a:pt x="489843" y="1153882"/>
                    <a:pt x="513277" y="1141330"/>
                  </a:cubicBezTo>
                  <a:cubicBezTo>
                    <a:pt x="574041" y="1194446"/>
                    <a:pt x="646615" y="1234376"/>
                    <a:pt x="726491" y="1256613"/>
                  </a:cubicBezTo>
                  <a:lnTo>
                    <a:pt x="680667" y="1591067"/>
                  </a:lnTo>
                  <a:lnTo>
                    <a:pt x="606528" y="1591067"/>
                  </a:lnTo>
                  <a:cubicBezTo>
                    <a:pt x="574041" y="1591067"/>
                    <a:pt x="547627" y="1617476"/>
                    <a:pt x="547627" y="1649957"/>
                  </a:cubicBezTo>
                  <a:lnTo>
                    <a:pt x="547627" y="1802154"/>
                  </a:lnTo>
                  <a:cubicBezTo>
                    <a:pt x="547627" y="1834635"/>
                    <a:pt x="574041" y="1861044"/>
                    <a:pt x="606528" y="1861044"/>
                  </a:cubicBezTo>
                  <a:lnTo>
                    <a:pt x="1139843" y="1861044"/>
                  </a:lnTo>
                  <a:cubicBezTo>
                    <a:pt x="1172330" y="1861044"/>
                    <a:pt x="1198744" y="1834635"/>
                    <a:pt x="1198744" y="1802154"/>
                  </a:cubicBezTo>
                  <a:lnTo>
                    <a:pt x="1198744" y="1649957"/>
                  </a:lnTo>
                  <a:cubicBezTo>
                    <a:pt x="1198744" y="1617476"/>
                    <a:pt x="1172330" y="1591067"/>
                    <a:pt x="1139843" y="1591067"/>
                  </a:cubicBezTo>
                  <a:lnTo>
                    <a:pt x="1065704" y="1591067"/>
                  </a:lnTo>
                  <a:lnTo>
                    <a:pt x="1019880" y="1256613"/>
                  </a:lnTo>
                  <a:cubicBezTo>
                    <a:pt x="1099756" y="1234376"/>
                    <a:pt x="1172330" y="1194446"/>
                    <a:pt x="1233094" y="1141330"/>
                  </a:cubicBezTo>
                  <a:cubicBezTo>
                    <a:pt x="1256528" y="1153882"/>
                    <a:pt x="1314721" y="1180701"/>
                    <a:pt x="1384650" y="1180701"/>
                  </a:cubicBezTo>
                  <a:cubicBezTo>
                    <a:pt x="1423098" y="1180701"/>
                    <a:pt x="1465047" y="1172581"/>
                    <a:pt x="1506736" y="1149524"/>
                  </a:cubicBezTo>
                  <a:cubicBezTo>
                    <a:pt x="1666563" y="1061096"/>
                    <a:pt x="1747184" y="795329"/>
                    <a:pt x="1746365" y="359634"/>
                  </a:cubicBezTo>
                  <a:cubicBezTo>
                    <a:pt x="1746179" y="329127"/>
                    <a:pt x="1721329" y="304320"/>
                    <a:pt x="1690854" y="304320"/>
                  </a:cubicBezTo>
                  <a:close/>
                  <a:moveTo>
                    <a:pt x="1161414" y="1649957"/>
                  </a:moveTo>
                  <a:lnTo>
                    <a:pt x="1161414" y="1802154"/>
                  </a:lnTo>
                  <a:cubicBezTo>
                    <a:pt x="1161414" y="1814111"/>
                    <a:pt x="1151690" y="1823795"/>
                    <a:pt x="1139768" y="1823795"/>
                  </a:cubicBezTo>
                  <a:lnTo>
                    <a:pt x="606491" y="1823795"/>
                  </a:lnTo>
                  <a:cubicBezTo>
                    <a:pt x="594532" y="1823795"/>
                    <a:pt x="584845" y="1814074"/>
                    <a:pt x="584845" y="1802154"/>
                  </a:cubicBezTo>
                  <a:lnTo>
                    <a:pt x="584845" y="1649957"/>
                  </a:lnTo>
                  <a:cubicBezTo>
                    <a:pt x="584845" y="1638000"/>
                    <a:pt x="594569" y="1628316"/>
                    <a:pt x="606491" y="1628316"/>
                  </a:cubicBezTo>
                  <a:lnTo>
                    <a:pt x="1139806" y="1628316"/>
                  </a:lnTo>
                  <a:cubicBezTo>
                    <a:pt x="1151727" y="1628278"/>
                    <a:pt x="1161414" y="1638000"/>
                    <a:pt x="1161414" y="1649957"/>
                  </a:cubicBezTo>
                  <a:close/>
                  <a:moveTo>
                    <a:pt x="368427" y="37248"/>
                  </a:moveTo>
                  <a:lnTo>
                    <a:pt x="1377832" y="37248"/>
                  </a:lnTo>
                  <a:cubicBezTo>
                    <a:pt x="1380850" y="37248"/>
                    <a:pt x="1383309" y="39707"/>
                    <a:pt x="1383309" y="42724"/>
                  </a:cubicBezTo>
                  <a:lnTo>
                    <a:pt x="1383309" y="322832"/>
                  </a:lnTo>
                  <a:cubicBezTo>
                    <a:pt x="1383309" y="322869"/>
                    <a:pt x="1383309" y="322869"/>
                    <a:pt x="1383309" y="322907"/>
                  </a:cubicBezTo>
                  <a:cubicBezTo>
                    <a:pt x="1383309" y="322944"/>
                    <a:pt x="1383309" y="322944"/>
                    <a:pt x="1383309" y="322981"/>
                  </a:cubicBezTo>
                  <a:lnTo>
                    <a:pt x="1383309" y="729213"/>
                  </a:lnTo>
                  <a:cubicBezTo>
                    <a:pt x="1383309" y="1010476"/>
                    <a:pt x="1154447" y="1239293"/>
                    <a:pt x="873130" y="1239293"/>
                  </a:cubicBezTo>
                  <a:cubicBezTo>
                    <a:pt x="591812" y="1239293"/>
                    <a:pt x="362951" y="1010476"/>
                    <a:pt x="362951" y="729213"/>
                  </a:cubicBezTo>
                  <a:lnTo>
                    <a:pt x="362951" y="323018"/>
                  </a:lnTo>
                  <a:cubicBezTo>
                    <a:pt x="362951" y="322981"/>
                    <a:pt x="362951" y="322981"/>
                    <a:pt x="362951" y="322944"/>
                  </a:cubicBezTo>
                  <a:cubicBezTo>
                    <a:pt x="362951" y="322907"/>
                    <a:pt x="362951" y="322907"/>
                    <a:pt x="362951" y="322869"/>
                  </a:cubicBezTo>
                  <a:lnTo>
                    <a:pt x="362951" y="42761"/>
                  </a:lnTo>
                  <a:cubicBezTo>
                    <a:pt x="362951" y="39707"/>
                    <a:pt x="365410" y="37248"/>
                    <a:pt x="368427" y="37248"/>
                  </a:cubicBezTo>
                  <a:close/>
                  <a:moveTo>
                    <a:pt x="257368" y="1116746"/>
                  </a:moveTo>
                  <a:cubicBezTo>
                    <a:pt x="74480" y="1015169"/>
                    <a:pt x="36740" y="648980"/>
                    <a:pt x="37262" y="359708"/>
                  </a:cubicBezTo>
                  <a:cubicBezTo>
                    <a:pt x="37262" y="349688"/>
                    <a:pt x="45421" y="341568"/>
                    <a:pt x="55368" y="341568"/>
                  </a:cubicBezTo>
                  <a:lnTo>
                    <a:pt x="325658" y="341568"/>
                  </a:lnTo>
                  <a:lnTo>
                    <a:pt x="325658" y="729250"/>
                  </a:lnTo>
                  <a:cubicBezTo>
                    <a:pt x="325658" y="879138"/>
                    <a:pt x="386236" y="1015132"/>
                    <a:pt x="484181" y="1114064"/>
                  </a:cubicBezTo>
                  <a:cubicBezTo>
                    <a:pt x="443609" y="1133098"/>
                    <a:pt x="347750" y="1166956"/>
                    <a:pt x="257368" y="1116746"/>
                  </a:cubicBezTo>
                  <a:close/>
                  <a:moveTo>
                    <a:pt x="1028039" y="1591030"/>
                  </a:moveTo>
                  <a:lnTo>
                    <a:pt x="718221" y="1591030"/>
                  </a:lnTo>
                  <a:lnTo>
                    <a:pt x="762853" y="1265404"/>
                  </a:lnTo>
                  <a:cubicBezTo>
                    <a:pt x="798469" y="1272705"/>
                    <a:pt x="835390" y="1276579"/>
                    <a:pt x="873130" y="1276579"/>
                  </a:cubicBezTo>
                  <a:cubicBezTo>
                    <a:pt x="910907" y="1276579"/>
                    <a:pt x="947790" y="1272742"/>
                    <a:pt x="983406" y="1265404"/>
                  </a:cubicBezTo>
                  <a:lnTo>
                    <a:pt x="1028039" y="1591030"/>
                  </a:lnTo>
                  <a:close/>
                  <a:moveTo>
                    <a:pt x="1488891" y="1116746"/>
                  </a:moveTo>
                  <a:cubicBezTo>
                    <a:pt x="1453982" y="1136152"/>
                    <a:pt x="1418254" y="1142968"/>
                    <a:pt x="1385171" y="1142968"/>
                  </a:cubicBezTo>
                  <a:cubicBezTo>
                    <a:pt x="1332678" y="1142968"/>
                    <a:pt x="1286965" y="1125685"/>
                    <a:pt x="1262004" y="1114026"/>
                  </a:cubicBezTo>
                  <a:cubicBezTo>
                    <a:pt x="1359949" y="1015094"/>
                    <a:pt x="1420564" y="879100"/>
                    <a:pt x="1420564" y="729213"/>
                  </a:cubicBezTo>
                  <a:lnTo>
                    <a:pt x="1420564" y="341568"/>
                  </a:lnTo>
                  <a:lnTo>
                    <a:pt x="1690854" y="341568"/>
                  </a:lnTo>
                  <a:cubicBezTo>
                    <a:pt x="1700838" y="341568"/>
                    <a:pt x="1708960" y="349726"/>
                    <a:pt x="1708960" y="359708"/>
                  </a:cubicBezTo>
                  <a:cubicBezTo>
                    <a:pt x="1709519" y="648980"/>
                    <a:pt x="1671779" y="1015169"/>
                    <a:pt x="1488891" y="1116746"/>
                  </a:cubicBezTo>
                  <a:close/>
                  <a:moveTo>
                    <a:pt x="765088" y="1726056"/>
                  </a:moveTo>
                  <a:cubicBezTo>
                    <a:pt x="765088" y="1715775"/>
                    <a:pt x="773434" y="1707431"/>
                    <a:pt x="783716" y="1707431"/>
                  </a:cubicBezTo>
                  <a:lnTo>
                    <a:pt x="962543" y="1707431"/>
                  </a:lnTo>
                  <a:cubicBezTo>
                    <a:pt x="972826" y="1707431"/>
                    <a:pt x="981171" y="1715775"/>
                    <a:pt x="981171" y="1726056"/>
                  </a:cubicBezTo>
                  <a:cubicBezTo>
                    <a:pt x="981171" y="1736336"/>
                    <a:pt x="972826" y="1744680"/>
                    <a:pt x="962543" y="1744680"/>
                  </a:cubicBezTo>
                  <a:lnTo>
                    <a:pt x="783716" y="1744680"/>
                  </a:lnTo>
                  <a:cubicBezTo>
                    <a:pt x="773434" y="1744680"/>
                    <a:pt x="765088" y="1736336"/>
                    <a:pt x="765088" y="1726056"/>
                  </a:cubicBezTo>
                  <a:close/>
                  <a:moveTo>
                    <a:pt x="721276" y="643281"/>
                  </a:moveTo>
                  <a:lnTo>
                    <a:pt x="694824" y="797564"/>
                  </a:lnTo>
                  <a:cubicBezTo>
                    <a:pt x="693036" y="807919"/>
                    <a:pt x="697208" y="818162"/>
                    <a:pt x="705703" y="824345"/>
                  </a:cubicBezTo>
                  <a:cubicBezTo>
                    <a:pt x="710509" y="827847"/>
                    <a:pt x="716134" y="829597"/>
                    <a:pt x="721760" y="829597"/>
                  </a:cubicBezTo>
                  <a:cubicBezTo>
                    <a:pt x="726119" y="829597"/>
                    <a:pt x="730478" y="828554"/>
                    <a:pt x="734539" y="826431"/>
                  </a:cubicBezTo>
                  <a:lnTo>
                    <a:pt x="873092" y="753610"/>
                  </a:lnTo>
                  <a:lnTo>
                    <a:pt x="1011646" y="826431"/>
                  </a:lnTo>
                  <a:cubicBezTo>
                    <a:pt x="1020923" y="831311"/>
                    <a:pt x="1031988" y="830529"/>
                    <a:pt x="1040482" y="824345"/>
                  </a:cubicBezTo>
                  <a:cubicBezTo>
                    <a:pt x="1048976" y="818162"/>
                    <a:pt x="1053149" y="807919"/>
                    <a:pt x="1051361" y="797564"/>
                  </a:cubicBezTo>
                  <a:lnTo>
                    <a:pt x="1024909" y="643281"/>
                  </a:lnTo>
                  <a:lnTo>
                    <a:pt x="1137011" y="534031"/>
                  </a:lnTo>
                  <a:cubicBezTo>
                    <a:pt x="1144537" y="526693"/>
                    <a:pt x="1147182" y="515965"/>
                    <a:pt x="1143941" y="505983"/>
                  </a:cubicBezTo>
                  <a:cubicBezTo>
                    <a:pt x="1140700" y="496000"/>
                    <a:pt x="1132243" y="488849"/>
                    <a:pt x="1121848" y="487359"/>
                  </a:cubicBezTo>
                  <a:lnTo>
                    <a:pt x="966939" y="464861"/>
                  </a:lnTo>
                  <a:lnTo>
                    <a:pt x="897644" y="324508"/>
                  </a:lnTo>
                  <a:cubicBezTo>
                    <a:pt x="897644" y="324508"/>
                    <a:pt x="897644" y="324508"/>
                    <a:pt x="897644" y="324508"/>
                  </a:cubicBezTo>
                  <a:cubicBezTo>
                    <a:pt x="892987" y="315085"/>
                    <a:pt x="883598" y="309237"/>
                    <a:pt x="873092" y="309237"/>
                  </a:cubicBezTo>
                  <a:cubicBezTo>
                    <a:pt x="862586" y="309237"/>
                    <a:pt x="853198" y="315085"/>
                    <a:pt x="848541" y="324508"/>
                  </a:cubicBezTo>
                  <a:lnTo>
                    <a:pt x="779245" y="464861"/>
                  </a:lnTo>
                  <a:lnTo>
                    <a:pt x="624299" y="487359"/>
                  </a:lnTo>
                  <a:cubicBezTo>
                    <a:pt x="613905" y="488886"/>
                    <a:pt x="605448" y="496000"/>
                    <a:pt x="602207" y="505983"/>
                  </a:cubicBezTo>
                  <a:cubicBezTo>
                    <a:pt x="598965" y="515965"/>
                    <a:pt x="601610" y="526730"/>
                    <a:pt x="609136" y="534031"/>
                  </a:cubicBezTo>
                  <a:lnTo>
                    <a:pt x="721276" y="643281"/>
                  </a:lnTo>
                  <a:close/>
                  <a:moveTo>
                    <a:pt x="794334" y="500284"/>
                  </a:moveTo>
                  <a:cubicBezTo>
                    <a:pt x="800407" y="499390"/>
                    <a:pt x="805660" y="495591"/>
                    <a:pt x="808379" y="490078"/>
                  </a:cubicBezTo>
                  <a:lnTo>
                    <a:pt x="873130" y="358889"/>
                  </a:lnTo>
                  <a:lnTo>
                    <a:pt x="937880" y="490078"/>
                  </a:lnTo>
                  <a:cubicBezTo>
                    <a:pt x="940600" y="495591"/>
                    <a:pt x="945853" y="499390"/>
                    <a:pt x="951888" y="500284"/>
                  </a:cubicBezTo>
                  <a:lnTo>
                    <a:pt x="1096701" y="521329"/>
                  </a:lnTo>
                  <a:lnTo>
                    <a:pt x="991901" y="623464"/>
                  </a:lnTo>
                  <a:cubicBezTo>
                    <a:pt x="987504" y="627748"/>
                    <a:pt x="985493" y="633894"/>
                    <a:pt x="986536" y="639965"/>
                  </a:cubicBezTo>
                  <a:lnTo>
                    <a:pt x="1011274" y="784154"/>
                  </a:lnTo>
                  <a:lnTo>
                    <a:pt x="881736" y="716064"/>
                  </a:lnTo>
                  <a:cubicBezTo>
                    <a:pt x="876296" y="713196"/>
                    <a:pt x="869814" y="713196"/>
                    <a:pt x="864412" y="716064"/>
                  </a:cubicBezTo>
                  <a:lnTo>
                    <a:pt x="734874" y="784154"/>
                  </a:lnTo>
                  <a:lnTo>
                    <a:pt x="759612" y="639965"/>
                  </a:lnTo>
                  <a:cubicBezTo>
                    <a:pt x="760655" y="633931"/>
                    <a:pt x="758643" y="627748"/>
                    <a:pt x="754247" y="623464"/>
                  </a:cubicBezTo>
                  <a:lnTo>
                    <a:pt x="649447" y="521329"/>
                  </a:lnTo>
                  <a:lnTo>
                    <a:pt x="794334" y="500284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/>
          <p:nvPr/>
        </p:nvSpPr>
        <p:spPr>
          <a:xfrm>
            <a:off x="0" y="0"/>
            <a:ext cx="18288000" cy="10364358"/>
          </a:xfrm>
          <a:custGeom>
            <a:avLst/>
            <a:gdLst/>
            <a:ahLst/>
            <a:cxnLst/>
            <a:rect l="l" t="t" r="r" b="b"/>
            <a:pathLst>
              <a:path w="8971816" h="5084597" extrusionOk="0">
                <a:moveTo>
                  <a:pt x="0" y="0"/>
                </a:moveTo>
                <a:lnTo>
                  <a:pt x="8971816" y="0"/>
                </a:lnTo>
                <a:lnTo>
                  <a:pt x="8971816" y="5084597"/>
                </a:lnTo>
                <a:lnTo>
                  <a:pt x="0" y="508459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Google Shape;69;p12"/>
          <p:cNvSpPr/>
          <p:nvPr/>
        </p:nvSpPr>
        <p:spPr>
          <a:xfrm>
            <a:off x="0" y="3192512"/>
            <a:ext cx="18288000" cy="7174203"/>
          </a:xfrm>
          <a:custGeom>
            <a:avLst/>
            <a:gdLst/>
            <a:ahLst/>
            <a:cxnLst/>
            <a:rect l="l" t="t" r="r" b="b"/>
            <a:pathLst>
              <a:path w="8971816" h="2948550" extrusionOk="0">
                <a:moveTo>
                  <a:pt x="0" y="0"/>
                </a:moveTo>
                <a:lnTo>
                  <a:pt x="8971816" y="0"/>
                </a:lnTo>
                <a:lnTo>
                  <a:pt x="8971816" y="2948550"/>
                </a:lnTo>
                <a:lnTo>
                  <a:pt x="0" y="2948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" name="Google Shape;70;p12"/>
          <p:cNvCxnSpPr/>
          <p:nvPr/>
        </p:nvCxnSpPr>
        <p:spPr>
          <a:xfrm rot="5399999">
            <a:off x="7106474" y="6452245"/>
            <a:ext cx="4114800" cy="0"/>
          </a:xfrm>
          <a:prstGeom prst="straightConnector1">
            <a:avLst/>
          </a:prstGeom>
          <a:noFill/>
          <a:ln w="19050" cap="flat" cmpd="sng">
            <a:solidFill>
              <a:srgbClr val="0C48BB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2" name="Google Shape;72;p12"/>
          <p:cNvGrpSpPr/>
          <p:nvPr/>
        </p:nvGrpSpPr>
        <p:grpSpPr>
          <a:xfrm>
            <a:off x="9768536" y="4378377"/>
            <a:ext cx="430502" cy="508437"/>
            <a:chOff x="0" y="-57150"/>
            <a:chExt cx="736600" cy="869950"/>
          </a:xfrm>
        </p:grpSpPr>
        <p:sp>
          <p:nvSpPr>
            <p:cNvPr id="73" name="Google Shape;73;p12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B4E3E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Google Shape;74;p12"/>
            <p:cNvSpPr txBox="1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12"/>
          <p:cNvSpPr txBox="1"/>
          <p:nvPr/>
        </p:nvSpPr>
        <p:spPr>
          <a:xfrm>
            <a:off x="1028700" y="1019175"/>
            <a:ext cx="110709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Related Work</a:t>
            </a:r>
            <a:endParaRPr dirty="0"/>
          </a:p>
        </p:txBody>
      </p:sp>
      <p:sp>
        <p:nvSpPr>
          <p:cNvPr id="76" name="Google Shape;76;p12"/>
          <p:cNvSpPr txBox="1"/>
          <p:nvPr/>
        </p:nvSpPr>
        <p:spPr>
          <a:xfrm>
            <a:off x="767578" y="4966098"/>
            <a:ext cx="8153389" cy="34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96571" marR="0" lvl="1" indent="-24828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Conventional methods at the network layer, like analyzing packet headers or traffic flow patterns, might not be adequate for effectively identifying and mitigating contemporary DoS/DDoS attacks.</a:t>
            </a:r>
          </a:p>
          <a:p>
            <a:pPr marL="496571" marR="0" lvl="1" indent="-24828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These methods lack adaptability to new and evolving DDoS attack patterns, making them less effective in dynamic threat environments.</a:t>
            </a:r>
            <a:endParaRPr dirty="0"/>
          </a:p>
        </p:txBody>
      </p:sp>
      <p:sp>
        <p:nvSpPr>
          <p:cNvPr id="77" name="Google Shape;77;p12"/>
          <p:cNvSpPr txBox="1"/>
          <p:nvPr/>
        </p:nvSpPr>
        <p:spPr>
          <a:xfrm>
            <a:off x="1524657" y="4331194"/>
            <a:ext cx="420780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Traditional Approaches</a:t>
            </a:r>
            <a:endParaRPr sz="1200" dirty="0"/>
          </a:p>
        </p:txBody>
      </p:sp>
      <p:sp>
        <p:nvSpPr>
          <p:cNvPr id="78" name="Google Shape;78;p12"/>
          <p:cNvSpPr txBox="1"/>
          <p:nvPr/>
        </p:nvSpPr>
        <p:spPr>
          <a:xfrm>
            <a:off x="9367037" y="4966098"/>
            <a:ext cx="8153385" cy="34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96571" marR="0" lvl="1" indent="-24828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Recent advancements have focused on leveraging machine learning and deep learning techniques to improve detection accuracy and response times. Start editing your presentation.</a:t>
            </a:r>
            <a:endParaRPr dirty="0"/>
          </a:p>
          <a:p>
            <a:pPr marL="496571" marR="0" lvl="1" indent="-24828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Approaches like CNNs, RNNs, and LSTMs have been applied to parse and analyze network traffic, offering improved precision in identifying DDoS attacks over traditional signature-based and anomaly-based detection systems.</a:t>
            </a:r>
            <a:endParaRPr dirty="0"/>
          </a:p>
        </p:txBody>
      </p:sp>
      <p:sp>
        <p:nvSpPr>
          <p:cNvPr id="79" name="Google Shape;79;p12"/>
          <p:cNvSpPr txBox="1"/>
          <p:nvPr/>
        </p:nvSpPr>
        <p:spPr>
          <a:xfrm>
            <a:off x="10381840" y="4331194"/>
            <a:ext cx="4737504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Recent Advancements</a:t>
            </a:r>
            <a:endParaRPr sz="1200" dirty="0"/>
          </a:p>
        </p:txBody>
      </p:sp>
      <p:grpSp>
        <p:nvGrpSpPr>
          <p:cNvPr id="85" name="Google Shape;85;p12"/>
          <p:cNvGrpSpPr/>
          <p:nvPr/>
        </p:nvGrpSpPr>
        <p:grpSpPr>
          <a:xfrm>
            <a:off x="962616" y="4378377"/>
            <a:ext cx="430502" cy="508437"/>
            <a:chOff x="0" y="-57150"/>
            <a:chExt cx="736600" cy="869950"/>
          </a:xfrm>
        </p:grpSpPr>
        <p:sp>
          <p:nvSpPr>
            <p:cNvPr id="86" name="Google Shape;86;p12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B4E3E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Google Shape;87;p12"/>
            <p:cNvSpPr txBox="1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76;p12">
            <a:extLst>
              <a:ext uri="{FF2B5EF4-FFF2-40B4-BE49-F238E27FC236}">
                <a16:creationId xmlns:a16="http://schemas.microsoft.com/office/drawing/2014/main" id="{EC9D4BCF-0CFC-3150-A73C-CE07CD7947C7}"/>
              </a:ext>
            </a:extLst>
          </p:cNvPr>
          <p:cNvSpPr txBox="1"/>
          <p:nvPr/>
        </p:nvSpPr>
        <p:spPr>
          <a:xfrm>
            <a:off x="770218" y="3265037"/>
            <a:ext cx="16241757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48287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Recent advancements in AI have propelled the use of deep learning in intrusion detection, significantly enhancing detection efficiency and effectiveness</a:t>
            </a:r>
            <a:endParaRPr lang="en-US" dirty="0"/>
          </a:p>
        </p:txBody>
      </p:sp>
      <p:sp>
        <p:nvSpPr>
          <p:cNvPr id="3" name="Google Shape;76;p12">
            <a:extLst>
              <a:ext uri="{FF2B5EF4-FFF2-40B4-BE49-F238E27FC236}">
                <a16:creationId xmlns:a16="http://schemas.microsoft.com/office/drawing/2014/main" id="{41C7FB0E-4E33-289E-53B7-4C511D363A78}"/>
              </a:ext>
            </a:extLst>
          </p:cNvPr>
          <p:cNvSpPr txBox="1"/>
          <p:nvPr/>
        </p:nvSpPr>
        <p:spPr>
          <a:xfrm>
            <a:off x="767579" y="8536902"/>
            <a:ext cx="16806734" cy="168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48287" marR="0" lvl="1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</a:pPr>
            <a:r>
              <a:rPr lang="en-US" sz="3200" b="1" dirty="0">
                <a:solidFill>
                  <a:srgbClr val="0C48BB"/>
                </a:solidFill>
                <a:latin typeface="Assistant"/>
                <a:cs typeface="Assistant"/>
                <a:sym typeface="Assistant"/>
              </a:rPr>
              <a:t>Gaps &amp; Limitations</a:t>
            </a:r>
          </a:p>
          <a:p>
            <a:pPr marL="248287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Few-shot learning methods rely on static models and single-space representation. Our dual-space prototypical network leverages geometric and angular measures to enhance detection and adaptability to both known and novel DDoS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918550" y="1019175"/>
            <a:ext cx="9782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Methodology</a:t>
            </a:r>
            <a:endParaRPr dirty="0"/>
          </a:p>
        </p:txBody>
      </p:sp>
      <p:sp>
        <p:nvSpPr>
          <p:cNvPr id="95" name="Google Shape;95;p13"/>
          <p:cNvSpPr/>
          <p:nvPr/>
        </p:nvSpPr>
        <p:spPr>
          <a:xfrm>
            <a:off x="0" y="9258300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8971816" h="504665" extrusionOk="0">
                <a:moveTo>
                  <a:pt x="0" y="0"/>
                </a:moveTo>
                <a:lnTo>
                  <a:pt x="8971816" y="0"/>
                </a:lnTo>
                <a:lnTo>
                  <a:pt x="8971816" y="504665"/>
                </a:lnTo>
                <a:lnTo>
                  <a:pt x="0" y="504665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Google Shape;98;p13"/>
          <p:cNvSpPr/>
          <p:nvPr/>
        </p:nvSpPr>
        <p:spPr>
          <a:xfrm>
            <a:off x="12397478" y="9090528"/>
            <a:ext cx="6019800" cy="335544"/>
          </a:xfrm>
          <a:custGeom>
            <a:avLst/>
            <a:gdLst/>
            <a:ahLst/>
            <a:cxnLst/>
            <a:rect l="l" t="t" r="r" b="b"/>
            <a:pathLst>
              <a:path w="1585462" h="88374" extrusionOk="0">
                <a:moveTo>
                  <a:pt x="0" y="0"/>
                </a:moveTo>
                <a:lnTo>
                  <a:pt x="1585462" y="0"/>
                </a:lnTo>
                <a:lnTo>
                  <a:pt x="158546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Google Shape;94;p13">
            <a:extLst>
              <a:ext uri="{FF2B5EF4-FFF2-40B4-BE49-F238E27FC236}">
                <a16:creationId xmlns:a16="http://schemas.microsoft.com/office/drawing/2014/main" id="{6DCA2112-5DF2-EFDD-4AE3-37B81A05A041}"/>
              </a:ext>
            </a:extLst>
          </p:cNvPr>
          <p:cNvSpPr txBox="1"/>
          <p:nvPr/>
        </p:nvSpPr>
        <p:spPr>
          <a:xfrm>
            <a:off x="918549" y="2526440"/>
            <a:ext cx="16388143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We Introduce a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dual-space prototypical network 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that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leverages geometric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 and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angular similarity measures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 to produce an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adaptive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 and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robust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design 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to detect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cyber threads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. </a:t>
            </a:r>
          </a:p>
          <a:p>
            <a:endParaRPr lang="en-US" sz="4400" dirty="0">
              <a:solidFill>
                <a:srgbClr val="0E0E0E"/>
              </a:solidFill>
              <a:latin typeface=".SF NS"/>
            </a:endParaRPr>
          </a:p>
          <a:p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By incorporating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multifaceted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data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, our model gains a </a:t>
            </a:r>
            <a:r>
              <a:rPr lang="en-US" sz="4400" b="1" dirty="0">
                <a:solidFill>
                  <a:srgbClr val="0E0E0E"/>
                </a:solidFill>
                <a:effectLst/>
                <a:latin typeface=".SF NS"/>
              </a:rPr>
              <a:t>detailed understanding of network behaviors</a:t>
            </a:r>
            <a:r>
              <a:rPr lang="en-US" sz="4400" dirty="0">
                <a:solidFill>
                  <a:srgbClr val="0E0E0E"/>
                </a:solidFill>
                <a:effectLst/>
                <a:latin typeface=".SF NS"/>
              </a:rPr>
              <a:t>, allowing it to detect subtle signs that might indicate an attack.</a:t>
            </a:r>
          </a:p>
        </p:txBody>
      </p:sp>
    </p:spTree>
    <p:extLst>
      <p:ext uri="{BB962C8B-B14F-4D97-AF65-F5344CB8AC3E}">
        <p14:creationId xmlns:p14="http://schemas.microsoft.com/office/powerpoint/2010/main" val="2226547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/>
          <p:nvPr/>
        </p:nvSpPr>
        <p:spPr>
          <a:xfrm>
            <a:off x="0" y="-3610"/>
            <a:ext cx="5784784" cy="10290610"/>
          </a:xfrm>
          <a:custGeom>
            <a:avLst/>
            <a:gdLst/>
            <a:ahLst/>
            <a:cxnLst/>
            <a:rect l="l" t="t" r="r" b="b"/>
            <a:pathLst>
              <a:path w="2837927" h="5048417" extrusionOk="0">
                <a:moveTo>
                  <a:pt x="0" y="0"/>
                </a:moveTo>
                <a:lnTo>
                  <a:pt x="2837927" y="0"/>
                </a:lnTo>
                <a:lnTo>
                  <a:pt x="2837927" y="5048417"/>
                </a:lnTo>
                <a:lnTo>
                  <a:pt x="0" y="504841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Google Shape;309;p24"/>
          <p:cNvSpPr txBox="1"/>
          <p:nvPr/>
        </p:nvSpPr>
        <p:spPr>
          <a:xfrm>
            <a:off x="7225990" y="1333500"/>
            <a:ext cx="10458806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Dual-Space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Loss Function</a:t>
            </a:r>
            <a:endParaRPr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BA3FBE-B196-552F-89FC-7C69A94B0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240" y="3741919"/>
            <a:ext cx="9232311" cy="59911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/>
          <p:nvPr/>
        </p:nvSpPr>
        <p:spPr>
          <a:xfrm>
            <a:off x="14420248" y="7558343"/>
            <a:ext cx="322200" cy="322200"/>
          </a:xfrm>
          <a:prstGeom prst="rect">
            <a:avLst/>
          </a:prstGeom>
          <a:solidFill>
            <a:srgbClr val="B4E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9760044" y="5398644"/>
            <a:ext cx="322200" cy="322200"/>
          </a:xfrm>
          <a:prstGeom prst="rect">
            <a:avLst/>
          </a:prstGeom>
          <a:solidFill>
            <a:srgbClr val="B4E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0" y="-3610"/>
            <a:ext cx="5784784" cy="10290610"/>
          </a:xfrm>
          <a:custGeom>
            <a:avLst/>
            <a:gdLst/>
            <a:ahLst/>
            <a:cxnLst/>
            <a:rect l="l" t="t" r="r" b="b"/>
            <a:pathLst>
              <a:path w="2837927" h="5048417" extrusionOk="0">
                <a:moveTo>
                  <a:pt x="0" y="0"/>
                </a:moveTo>
                <a:lnTo>
                  <a:pt x="2837927" y="0"/>
                </a:lnTo>
                <a:lnTo>
                  <a:pt x="2837927" y="5048417"/>
                </a:lnTo>
                <a:lnTo>
                  <a:pt x="0" y="504841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Google Shape;309;p24"/>
          <p:cNvSpPr txBox="1"/>
          <p:nvPr/>
        </p:nvSpPr>
        <p:spPr>
          <a:xfrm>
            <a:off x="9127606" y="1333500"/>
            <a:ext cx="855718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Data &amp; Preprocessing</a:t>
            </a:r>
            <a:endParaRPr dirty="0"/>
          </a:p>
        </p:txBody>
      </p:sp>
      <p:sp>
        <p:nvSpPr>
          <p:cNvPr id="310" name="Google Shape;310;p24"/>
          <p:cNvSpPr txBox="1"/>
          <p:nvPr/>
        </p:nvSpPr>
        <p:spPr>
          <a:xfrm>
            <a:off x="9127606" y="3892550"/>
            <a:ext cx="739098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We utilize the </a:t>
            </a:r>
            <a:r>
              <a:rPr lang="en-US" sz="3200" b="1" dirty="0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CICIDS dataset</a:t>
            </a:r>
            <a:r>
              <a:rPr lang="en-US" sz="3200" dirty="0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, which provides comprehensive network flow data</a:t>
            </a:r>
            <a:endParaRPr sz="1800" dirty="0"/>
          </a:p>
        </p:txBody>
      </p:sp>
      <p:sp>
        <p:nvSpPr>
          <p:cNvPr id="311" name="Google Shape;311;p24"/>
          <p:cNvSpPr txBox="1"/>
          <p:nvPr/>
        </p:nvSpPr>
        <p:spPr>
          <a:xfrm>
            <a:off x="9930889" y="5309481"/>
            <a:ext cx="658769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Preprocessing: </a:t>
            </a:r>
            <a:r>
              <a:rPr lang="en-US" sz="280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Involves normalization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(with </a:t>
            </a:r>
            <a:r>
              <a:rPr lang="en-US" sz="2800" b="1" dirty="0" err="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RobustScaler</a:t>
            </a:r>
            <a:r>
              <a:rPr lang="en-US" sz="280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) and feature extraction to ensure the model focuses on the most predictive indicators of attacks.</a:t>
            </a:r>
            <a:endParaRPr sz="1600" dirty="0"/>
          </a:p>
        </p:txBody>
      </p:sp>
      <p:sp>
        <p:nvSpPr>
          <p:cNvPr id="313" name="Google Shape;313;p24"/>
          <p:cNvSpPr/>
          <p:nvPr/>
        </p:nvSpPr>
        <p:spPr>
          <a:xfrm>
            <a:off x="9156175" y="9016975"/>
            <a:ext cx="2952600" cy="110400"/>
          </a:xfrm>
          <a:prstGeom prst="rect">
            <a:avLst/>
          </a:prstGeom>
          <a:solidFill>
            <a:srgbClr val="B4E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30AD93-4F3B-4A82-799A-F5E40D81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66" y="938751"/>
            <a:ext cx="7772400" cy="840588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01643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8BB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0" y="0"/>
            <a:ext cx="18288000" cy="5634480"/>
          </a:xfrm>
          <a:custGeom>
            <a:avLst/>
            <a:gdLst/>
            <a:ahLst/>
            <a:cxnLst/>
            <a:rect l="l" t="t" r="r" b="b"/>
            <a:pathLst>
              <a:path w="8971816" h="2764191" extrusionOk="0">
                <a:moveTo>
                  <a:pt x="0" y="0"/>
                </a:moveTo>
                <a:lnTo>
                  <a:pt x="8971816" y="0"/>
                </a:lnTo>
                <a:lnTo>
                  <a:pt x="8971816" y="2764191"/>
                </a:lnTo>
                <a:lnTo>
                  <a:pt x="0" y="27641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Google Shape;212;p17"/>
          <p:cNvSpPr/>
          <p:nvPr/>
        </p:nvSpPr>
        <p:spPr>
          <a:xfrm>
            <a:off x="7830061" y="5495283"/>
            <a:ext cx="3086100" cy="259344"/>
          </a:xfrm>
          <a:custGeom>
            <a:avLst/>
            <a:gdLst/>
            <a:ahLst/>
            <a:cxnLst/>
            <a:rect l="l" t="t" r="r" b="b"/>
            <a:pathLst>
              <a:path w="812800" h="68305" extrusionOk="0">
                <a:moveTo>
                  <a:pt x="0" y="0"/>
                </a:moveTo>
                <a:lnTo>
                  <a:pt x="812800" y="0"/>
                </a:lnTo>
                <a:lnTo>
                  <a:pt x="812800" y="68305"/>
                </a:lnTo>
                <a:lnTo>
                  <a:pt x="0" y="68305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Google Shape;213;p17"/>
          <p:cNvSpPr txBox="1"/>
          <p:nvPr/>
        </p:nvSpPr>
        <p:spPr>
          <a:xfrm>
            <a:off x="7878846" y="4133850"/>
            <a:ext cx="1007652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Attention Mechanism</a:t>
            </a:r>
            <a:endParaRPr dirty="0"/>
          </a:p>
        </p:txBody>
      </p:sp>
      <p:sp>
        <p:nvSpPr>
          <p:cNvPr id="214" name="Google Shape;214;p17"/>
          <p:cNvSpPr txBox="1"/>
          <p:nvPr/>
        </p:nvSpPr>
        <p:spPr>
          <a:xfrm>
            <a:off x="7878847" y="6240403"/>
            <a:ext cx="9427846" cy="2692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Our </a:t>
            </a:r>
            <a:r>
              <a:rPr lang="en-US" sz="2499" b="1" dirty="0">
                <a:solidFill>
                  <a:srgbClr val="B4E3EF"/>
                </a:solidFill>
                <a:latin typeface="Assistant"/>
                <a:cs typeface="Assistant"/>
                <a:sym typeface="Assistant"/>
              </a:rPr>
              <a:t>model architecture </a:t>
            </a:r>
            <a:r>
              <a:rPr lang="en-US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includes two neural network designs: a </a:t>
            </a:r>
            <a:r>
              <a:rPr lang="en-US" sz="2499" b="1" dirty="0">
                <a:solidFill>
                  <a:srgbClr val="B4E3EF"/>
                </a:solidFill>
                <a:latin typeface="Assistant"/>
                <a:cs typeface="Assistant"/>
                <a:sym typeface="Assistant"/>
              </a:rPr>
              <a:t>foundational MLP </a:t>
            </a:r>
            <a:r>
              <a:rPr lang="en-US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and an enhanced version with an </a:t>
            </a:r>
            <a:r>
              <a:rPr lang="en-US" sz="2499" b="1" dirty="0">
                <a:solidFill>
                  <a:srgbClr val="B4E3EF"/>
                </a:solidFill>
                <a:latin typeface="Assistant"/>
                <a:cs typeface="Assistant"/>
                <a:sym typeface="Assistant"/>
              </a:rPr>
              <a:t>attention mechanism</a:t>
            </a:r>
            <a:r>
              <a:rPr lang="en-US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. The </a:t>
            </a:r>
            <a:r>
              <a:rPr lang="en-US" sz="2499" b="1" dirty="0">
                <a:solidFill>
                  <a:srgbClr val="B4E3EF"/>
                </a:solidFill>
                <a:latin typeface="Assistant"/>
                <a:cs typeface="Assistant"/>
                <a:sym typeface="Assistant"/>
              </a:rPr>
              <a:t>attention mechanism </a:t>
            </a:r>
            <a:r>
              <a:rPr lang="en-US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focuses on the most important features among a large number of attributes. The architecture integrates these mechanisms within our </a:t>
            </a:r>
            <a:r>
              <a:rPr lang="en-US" sz="2499" b="1" dirty="0">
                <a:solidFill>
                  <a:srgbClr val="B4E3EF"/>
                </a:solidFill>
                <a:latin typeface="Assistant"/>
                <a:cs typeface="Assistant"/>
                <a:sym typeface="Assistant"/>
              </a:rPr>
              <a:t>dual-space prototypical network framework, </a:t>
            </a:r>
            <a:r>
              <a:rPr lang="en-US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enabling dynamic and robust detection of DDoS attacks.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F0748F-E80A-532D-0D48-E49E828E9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24" y="4236145"/>
            <a:ext cx="7213600" cy="2565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743440" y="390280"/>
            <a:ext cx="5917709" cy="692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Dual-Space Prototypical Network</a:t>
            </a:r>
            <a:endParaRPr lang="en-US" sz="7500" dirty="0">
              <a:solidFill>
                <a:srgbClr val="0C48BB"/>
              </a:solidFill>
              <a:latin typeface="Tenor Sans"/>
              <a:sym typeface="Tenor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0C48BB"/>
                </a:solidFill>
                <a:latin typeface="Tenor Sans"/>
                <a:sym typeface="Tenor Sans"/>
              </a:rPr>
              <a:t>for DDoS Detection</a:t>
            </a:r>
            <a:endParaRPr dirty="0"/>
          </a:p>
        </p:txBody>
      </p:sp>
      <p:sp>
        <p:nvSpPr>
          <p:cNvPr id="95" name="Google Shape;95;p13"/>
          <p:cNvSpPr/>
          <p:nvPr/>
        </p:nvSpPr>
        <p:spPr>
          <a:xfrm>
            <a:off x="0" y="9258300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8971816" h="504665" extrusionOk="0">
                <a:moveTo>
                  <a:pt x="0" y="0"/>
                </a:moveTo>
                <a:lnTo>
                  <a:pt x="8971816" y="0"/>
                </a:lnTo>
                <a:lnTo>
                  <a:pt x="8971816" y="504665"/>
                </a:lnTo>
                <a:lnTo>
                  <a:pt x="0" y="504665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Google Shape;98;p13"/>
          <p:cNvSpPr/>
          <p:nvPr/>
        </p:nvSpPr>
        <p:spPr>
          <a:xfrm>
            <a:off x="12397478" y="9090528"/>
            <a:ext cx="6019800" cy="335544"/>
          </a:xfrm>
          <a:custGeom>
            <a:avLst/>
            <a:gdLst/>
            <a:ahLst/>
            <a:cxnLst/>
            <a:rect l="l" t="t" r="r" b="b"/>
            <a:pathLst>
              <a:path w="1585462" h="88374" extrusionOk="0">
                <a:moveTo>
                  <a:pt x="0" y="0"/>
                </a:moveTo>
                <a:lnTo>
                  <a:pt x="1585462" y="0"/>
                </a:lnTo>
                <a:lnTo>
                  <a:pt x="158546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CD57D8-5F76-30B7-984C-C1603BA48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822" y="390281"/>
            <a:ext cx="6308510" cy="1306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CC28FB-7DCF-D0E2-77D7-0FFE34A0D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138" y="2229252"/>
            <a:ext cx="6019799" cy="68612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A45306-6A70-BA7C-A843-EE9EE4397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6077" y="2980236"/>
            <a:ext cx="6276075" cy="313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93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/>
          <p:nvPr/>
        </p:nvSpPr>
        <p:spPr>
          <a:xfrm>
            <a:off x="0" y="0"/>
            <a:ext cx="18288000" cy="10364358"/>
          </a:xfrm>
          <a:custGeom>
            <a:avLst/>
            <a:gdLst/>
            <a:ahLst/>
            <a:cxnLst/>
            <a:rect l="l" t="t" r="r" b="b"/>
            <a:pathLst>
              <a:path w="8971816" h="5084597" extrusionOk="0">
                <a:moveTo>
                  <a:pt x="0" y="0"/>
                </a:moveTo>
                <a:lnTo>
                  <a:pt x="8971816" y="0"/>
                </a:lnTo>
                <a:lnTo>
                  <a:pt x="8971816" y="5084597"/>
                </a:lnTo>
                <a:lnTo>
                  <a:pt x="0" y="508459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Google Shape;69;p12"/>
          <p:cNvSpPr/>
          <p:nvPr/>
        </p:nvSpPr>
        <p:spPr>
          <a:xfrm>
            <a:off x="0" y="2449286"/>
            <a:ext cx="18288000" cy="7917429"/>
          </a:xfrm>
          <a:custGeom>
            <a:avLst/>
            <a:gdLst/>
            <a:ahLst/>
            <a:cxnLst/>
            <a:rect l="l" t="t" r="r" b="b"/>
            <a:pathLst>
              <a:path w="8971816" h="2948550" extrusionOk="0">
                <a:moveTo>
                  <a:pt x="0" y="0"/>
                </a:moveTo>
                <a:lnTo>
                  <a:pt x="8971816" y="0"/>
                </a:lnTo>
                <a:lnTo>
                  <a:pt x="8971816" y="2948550"/>
                </a:lnTo>
                <a:lnTo>
                  <a:pt x="0" y="2948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Google Shape;75;p12"/>
          <p:cNvSpPr txBox="1"/>
          <p:nvPr/>
        </p:nvSpPr>
        <p:spPr>
          <a:xfrm>
            <a:off x="1028700" y="1019175"/>
            <a:ext cx="110709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Results (I)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283FBA-359F-D45E-9FA6-6B2E645A7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5" y="4101933"/>
            <a:ext cx="14069986" cy="4184818"/>
          </a:xfrm>
          <a:prstGeom prst="rect">
            <a:avLst/>
          </a:prstGeom>
        </p:spPr>
      </p:pic>
      <p:sp>
        <p:nvSpPr>
          <p:cNvPr id="7" name="Google Shape;311;p24">
            <a:extLst>
              <a:ext uri="{FF2B5EF4-FFF2-40B4-BE49-F238E27FC236}">
                <a16:creationId xmlns:a16="http://schemas.microsoft.com/office/drawing/2014/main" id="{7E187A09-5D4A-47F2-E0C0-9006A67A9E78}"/>
              </a:ext>
            </a:extLst>
          </p:cNvPr>
          <p:cNvSpPr txBox="1"/>
          <p:nvPr/>
        </p:nvSpPr>
        <p:spPr>
          <a:xfrm>
            <a:off x="2028825" y="8356058"/>
            <a:ext cx="139556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C48BB"/>
                </a:solidFill>
                <a:latin typeface="Assistant"/>
                <a:cs typeface="Assistant"/>
                <a:sym typeface="Assistant"/>
              </a:rPr>
              <a:t>Model Performance (Whole dataset) – Metrics in rates (%)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01352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/>
          <p:nvPr/>
        </p:nvSpPr>
        <p:spPr>
          <a:xfrm>
            <a:off x="0" y="0"/>
            <a:ext cx="18288000" cy="10364358"/>
          </a:xfrm>
          <a:custGeom>
            <a:avLst/>
            <a:gdLst/>
            <a:ahLst/>
            <a:cxnLst/>
            <a:rect l="l" t="t" r="r" b="b"/>
            <a:pathLst>
              <a:path w="8971816" h="5084597" extrusionOk="0">
                <a:moveTo>
                  <a:pt x="0" y="0"/>
                </a:moveTo>
                <a:lnTo>
                  <a:pt x="8971816" y="0"/>
                </a:lnTo>
                <a:lnTo>
                  <a:pt x="8971816" y="5084597"/>
                </a:lnTo>
                <a:lnTo>
                  <a:pt x="0" y="508459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Google Shape;69;p12"/>
          <p:cNvSpPr/>
          <p:nvPr/>
        </p:nvSpPr>
        <p:spPr>
          <a:xfrm>
            <a:off x="0" y="2434998"/>
            <a:ext cx="18288000" cy="7917429"/>
          </a:xfrm>
          <a:custGeom>
            <a:avLst/>
            <a:gdLst/>
            <a:ahLst/>
            <a:cxnLst/>
            <a:rect l="l" t="t" r="r" b="b"/>
            <a:pathLst>
              <a:path w="8971816" h="2948550" extrusionOk="0">
                <a:moveTo>
                  <a:pt x="0" y="0"/>
                </a:moveTo>
                <a:lnTo>
                  <a:pt x="8971816" y="0"/>
                </a:lnTo>
                <a:lnTo>
                  <a:pt x="8971816" y="2948550"/>
                </a:lnTo>
                <a:lnTo>
                  <a:pt x="0" y="2948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Google Shape;75;p12"/>
          <p:cNvSpPr txBox="1"/>
          <p:nvPr/>
        </p:nvSpPr>
        <p:spPr>
          <a:xfrm>
            <a:off x="1028700" y="1019175"/>
            <a:ext cx="110709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Results (II)</a:t>
            </a:r>
            <a:endParaRPr dirty="0"/>
          </a:p>
        </p:txBody>
      </p:sp>
      <p:sp>
        <p:nvSpPr>
          <p:cNvPr id="7" name="Google Shape;311;p24">
            <a:extLst>
              <a:ext uri="{FF2B5EF4-FFF2-40B4-BE49-F238E27FC236}">
                <a16:creationId xmlns:a16="http://schemas.microsoft.com/office/drawing/2014/main" id="{7E187A09-5D4A-47F2-E0C0-9006A67A9E78}"/>
              </a:ext>
            </a:extLst>
          </p:cNvPr>
          <p:cNvSpPr txBox="1"/>
          <p:nvPr/>
        </p:nvSpPr>
        <p:spPr>
          <a:xfrm>
            <a:off x="2028825" y="8356058"/>
            <a:ext cx="139556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C48BB"/>
                </a:solidFill>
                <a:latin typeface="Assistant"/>
                <a:cs typeface="Assistant"/>
                <a:sym typeface="Assistant"/>
              </a:rPr>
              <a:t>Model Performance (Train </a:t>
            </a:r>
            <a:r>
              <a:rPr lang="en-US" sz="2800" b="1" i="1" dirty="0">
                <a:solidFill>
                  <a:srgbClr val="0C48BB"/>
                </a:solidFill>
                <a:latin typeface="Assistant"/>
                <a:cs typeface="Assistant"/>
                <a:sym typeface="Assistant"/>
              </a:rPr>
              <a:t>N </a:t>
            </a:r>
            <a:r>
              <a:rPr lang="en-US" sz="2800" b="1" dirty="0">
                <a:solidFill>
                  <a:srgbClr val="0C48BB"/>
                </a:solidFill>
                <a:latin typeface="Assistant"/>
                <a:cs typeface="Assistant"/>
                <a:sym typeface="Assistant"/>
              </a:rPr>
              <a:t>: 100) – Metrics in rates (%)</a:t>
            </a:r>
            <a:endParaRPr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E880E6-67A0-52CA-55CC-25A970E60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05" y="4105825"/>
            <a:ext cx="14279206" cy="431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4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1137931" y="3062287"/>
            <a:ext cx="16012138" cy="30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0" b="0" i="0" u="none" strike="noStrike" cap="none" dirty="0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Conclusion</a:t>
            </a:r>
            <a:endParaRPr sz="3200" dirty="0"/>
          </a:p>
        </p:txBody>
      </p:sp>
      <p:sp>
        <p:nvSpPr>
          <p:cNvPr id="95" name="Google Shape;95;p13"/>
          <p:cNvSpPr/>
          <p:nvPr/>
        </p:nvSpPr>
        <p:spPr>
          <a:xfrm>
            <a:off x="0" y="9258300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8971816" h="504665" extrusionOk="0">
                <a:moveTo>
                  <a:pt x="0" y="0"/>
                </a:moveTo>
                <a:lnTo>
                  <a:pt x="8971816" y="0"/>
                </a:lnTo>
                <a:lnTo>
                  <a:pt x="8971816" y="504665"/>
                </a:lnTo>
                <a:lnTo>
                  <a:pt x="0" y="504665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Google Shape;98;p13"/>
          <p:cNvSpPr/>
          <p:nvPr/>
        </p:nvSpPr>
        <p:spPr>
          <a:xfrm>
            <a:off x="12397478" y="9090528"/>
            <a:ext cx="6019800" cy="335544"/>
          </a:xfrm>
          <a:custGeom>
            <a:avLst/>
            <a:gdLst/>
            <a:ahLst/>
            <a:cxnLst/>
            <a:rect l="l" t="t" r="r" b="b"/>
            <a:pathLst>
              <a:path w="1585462" h="88374" extrusionOk="0">
                <a:moveTo>
                  <a:pt x="0" y="0"/>
                </a:moveTo>
                <a:lnTo>
                  <a:pt x="1585462" y="0"/>
                </a:lnTo>
                <a:lnTo>
                  <a:pt x="158546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05564"/>
      </p:ext>
    </p:extLst>
  </p:cSld>
  <p:clrMapOvr>
    <a:masterClrMapping/>
  </p:clrMapOvr>
</p:sld>
</file>

<file path=ppt/theme/theme1.xml><?xml version="1.0" encoding="utf-8"?>
<a:theme xmlns:a="http://schemas.openxmlformats.org/drawingml/2006/main" name="Blue and White Simple Basic Company Roadmap Presentation">
  <a:themeElements>
    <a:clrScheme name="Office">
      <a:dk1>
        <a:srgbClr val="000000"/>
      </a:dk1>
      <a:lt1>
        <a:srgbClr val="FFFFFF"/>
      </a:lt1>
      <a:dk2>
        <a:srgbClr val="0C48BB"/>
      </a:dk2>
      <a:lt2>
        <a:srgbClr val="EEECE1"/>
      </a:lt2>
      <a:accent1>
        <a:srgbClr val="4F81BD"/>
      </a:accent1>
      <a:accent2>
        <a:srgbClr val="F6F6F6"/>
      </a:accent2>
      <a:accent3>
        <a:srgbClr val="B4E3EF"/>
      </a:accent3>
      <a:accent4>
        <a:srgbClr val="0C48BB"/>
      </a:accent4>
      <a:accent5>
        <a:srgbClr val="6488D2"/>
      </a:accent5>
      <a:accent6>
        <a:srgbClr val="D8D8D8"/>
      </a:accent6>
      <a:hlink>
        <a:srgbClr val="0C48B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2544</TotalTime>
  <Words>651</Words>
  <Application>Microsoft Macintosh PowerPoint</Application>
  <PresentationFormat>Custom</PresentationFormat>
  <Paragraphs>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Assistant</vt:lpstr>
      <vt:lpstr>Tenor Sans</vt:lpstr>
      <vt:lpstr>Calibri</vt:lpstr>
      <vt:lpstr>.SF NS</vt:lpstr>
      <vt:lpstr>Blue and White Simple Basic Company Roadmap Presentation</vt:lpstr>
      <vt:lpstr>Redefining DDoS Attack Detection Using A  Dual-Space Prototypical Network-Based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Fernando Martínez López</cp:lastModifiedBy>
  <cp:revision>12</cp:revision>
  <dcterms:modified xsi:type="dcterms:W3CDTF">2024-07-04T14:25:10Z</dcterms:modified>
</cp:coreProperties>
</file>